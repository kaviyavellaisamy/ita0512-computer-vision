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4" r:id="rId8"/>
    <p:sldId id="266"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734690-5A17-4AAB-879F-3566E961A8FB}" v="1" dt="2026-07-29T04:39:47.5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viya V" userId="90fff63eb8b83aa1" providerId="LiveId" clId="{83088EA5-87EC-43DD-B505-7C5D9175AD63}"/>
    <pc:docChg chg="addSld delSld modSld">
      <pc:chgData name="Kaviya V" userId="90fff63eb8b83aa1" providerId="LiveId" clId="{83088EA5-87EC-43DD-B505-7C5D9175AD63}" dt="2026-07-29T04:48:50.211" v="60" actId="47"/>
      <pc:docMkLst>
        <pc:docMk/>
      </pc:docMkLst>
      <pc:sldChg chg="addSp modSp mod">
        <pc:chgData name="Kaviya V" userId="90fff63eb8b83aa1" providerId="LiveId" clId="{83088EA5-87EC-43DD-B505-7C5D9175AD63}" dt="2026-07-29T04:40:18.148" v="58" actId="1076"/>
        <pc:sldMkLst>
          <pc:docMk/>
          <pc:sldMk cId="0" sldId="256"/>
        </pc:sldMkLst>
        <pc:spChg chg="add mod">
          <ac:chgData name="Kaviya V" userId="90fff63eb8b83aa1" providerId="LiveId" clId="{83088EA5-87EC-43DD-B505-7C5D9175AD63}" dt="2026-07-29T04:40:18.148" v="58" actId="1076"/>
          <ac:spMkLst>
            <pc:docMk/>
            <pc:sldMk cId="0" sldId="256"/>
            <ac:spMk id="148" creationId="{53A72668-6E64-B031-FEE9-AAF0766EDE89}"/>
          </ac:spMkLst>
        </pc:spChg>
        <pc:spChg chg="mod">
          <ac:chgData name="Kaviya V" userId="90fff63eb8b83aa1" providerId="LiveId" clId="{83088EA5-87EC-43DD-B505-7C5D9175AD63}" dt="2026-07-29T04:40:13.760" v="57" actId="1076"/>
          <ac:spMkLst>
            <pc:docMk/>
            <pc:sldMk cId="0" sldId="256"/>
            <ac:spMk id="151" creationId="{00000000-0000-0000-0000-000000000000}"/>
          </ac:spMkLst>
        </pc:spChg>
        <pc:spChg chg="mod">
          <ac:chgData name="Kaviya V" userId="90fff63eb8b83aa1" providerId="LiveId" clId="{83088EA5-87EC-43DD-B505-7C5D9175AD63}" dt="2026-07-29T04:40:08.242" v="56" actId="1076"/>
          <ac:spMkLst>
            <pc:docMk/>
            <pc:sldMk cId="0" sldId="256"/>
            <ac:spMk id="152" creationId="{00000000-0000-0000-0000-000000000000}"/>
          </ac:spMkLst>
        </pc:spChg>
      </pc:sldChg>
      <pc:sldChg chg="modSp mod">
        <pc:chgData name="Kaviya V" userId="90fff63eb8b83aa1" providerId="LiveId" clId="{83088EA5-87EC-43DD-B505-7C5D9175AD63}" dt="2026-07-29T04:04:40.557" v="1" actId="20577"/>
        <pc:sldMkLst>
          <pc:docMk/>
          <pc:sldMk cId="0" sldId="257"/>
        </pc:sldMkLst>
        <pc:spChg chg="mod">
          <ac:chgData name="Kaviya V" userId="90fff63eb8b83aa1" providerId="LiveId" clId="{83088EA5-87EC-43DD-B505-7C5D9175AD63}" dt="2026-07-29T04:04:40.557" v="1" actId="20577"/>
          <ac:spMkLst>
            <pc:docMk/>
            <pc:sldMk cId="0" sldId="257"/>
            <ac:spMk id="10" creationId="{00000000-0000-0000-0000-000000000000}"/>
          </ac:spMkLst>
        </pc:spChg>
      </pc:sldChg>
      <pc:sldChg chg="modSp mod">
        <pc:chgData name="Kaviya V" userId="90fff63eb8b83aa1" providerId="LiveId" clId="{83088EA5-87EC-43DD-B505-7C5D9175AD63}" dt="2026-07-29T04:31:57.755" v="6" actId="1076"/>
        <pc:sldMkLst>
          <pc:docMk/>
          <pc:sldMk cId="0" sldId="261"/>
        </pc:sldMkLst>
        <pc:spChg chg="mod">
          <ac:chgData name="Kaviya V" userId="90fff63eb8b83aa1" providerId="LiveId" clId="{83088EA5-87EC-43DD-B505-7C5D9175AD63}" dt="2026-07-29T04:31:36.540" v="5" actId="2085"/>
          <ac:spMkLst>
            <pc:docMk/>
            <pc:sldMk cId="0" sldId="261"/>
            <ac:spMk id="5" creationId="{00000000-0000-0000-0000-000000000000}"/>
          </ac:spMkLst>
        </pc:spChg>
        <pc:picChg chg="mod">
          <ac:chgData name="Kaviya V" userId="90fff63eb8b83aa1" providerId="LiveId" clId="{83088EA5-87EC-43DD-B505-7C5D9175AD63}" dt="2026-07-29T04:31:57.755" v="6" actId="1076"/>
          <ac:picMkLst>
            <pc:docMk/>
            <pc:sldMk cId="0" sldId="261"/>
            <ac:picMk id="7" creationId="{00000000-0000-0000-0000-000000000000}"/>
          </ac:picMkLst>
        </pc:picChg>
      </pc:sldChg>
      <pc:sldChg chg="del">
        <pc:chgData name="Kaviya V" userId="90fff63eb8b83aa1" providerId="LiveId" clId="{83088EA5-87EC-43DD-B505-7C5D9175AD63}" dt="2026-07-29T04:05:23.445" v="2" actId="47"/>
        <pc:sldMkLst>
          <pc:docMk/>
          <pc:sldMk cId="0" sldId="263"/>
        </pc:sldMkLst>
      </pc:sldChg>
      <pc:sldChg chg="del">
        <pc:chgData name="Kaviya V" userId="90fff63eb8b83aa1" providerId="LiveId" clId="{83088EA5-87EC-43DD-B505-7C5D9175AD63}" dt="2026-07-29T04:05:57.565" v="3" actId="47"/>
        <pc:sldMkLst>
          <pc:docMk/>
          <pc:sldMk cId="0" sldId="265"/>
        </pc:sldMkLst>
      </pc:sldChg>
      <pc:sldChg chg="new del">
        <pc:chgData name="Kaviya V" userId="90fff63eb8b83aa1" providerId="LiveId" clId="{83088EA5-87EC-43DD-B505-7C5D9175AD63}" dt="2026-07-29T04:48:50.211" v="60" actId="47"/>
        <pc:sldMkLst>
          <pc:docMk/>
          <pc:sldMk cId="3440703624"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3258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will present my final-year seminar on Computer Vision Applications in Smart Cities, focusing on identifying urban problems and how computer vision solves them, supported by real-world case studies. This presentation covers the workflow of computer vision systems, key problems cities face, matching solutions, major application areas, four global case studies, underlying technologies, and the benefits, challenges, and future scope of this field. My goal is to show how AI-powered vision systems are transforming urban infrastructure, safety, and quality of life, and why this is an important area for IT graduates entering the industry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establish the two core concepts. Computer Vision is the branch of AI that allows machines to process and interpret images and video, similar to human sight. A Smart City integrates IoT sensors, data analytics, and automation to run urban services more efficiently. Together, AI and computer vision act as the sensory layer of a smart city — constantly watching traffic, public spaces, and infrastructure. As urban populations grow, manual monitoring becomes impossible at scale, making automated visual intelligence essential. Our key objective in this presentation is to show how raw visual data from cameras is converted into real, actionable city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computer vision system in a smart city follows a consistent pipeline. It begins with a camera, CCTV, or drone capturing live footage, which becomes raw image data during acquisition. Preprocessing then cleans the frames — removing noise and adjusting contrast — before deep learning models such as CNNs or YOLO extract features and detect objects. The analysis stage identifies vehicles, pedestrians, or anomalies, and this information feeds into a decision-making layer that checks it against city rules and thresholds. Finally, the system triggers a smart city action — such as changing a traffic signal or sending an alert — closing the loop from raw pixels to real-world impact.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 urbanization has intensified six major challenges. Traffic congestion wastes commuter hours daily, while road accidents often go undetected until it's too late. Public safety monitoring struggles to scale with limited human staff watching thousands of camera feeds. Illegal parking obstructs roads and emergency access, waste management suffers from inefficient bin tracking leading to overflow, and environmental pollution is hard to trace to its source without continuous sensing. These six problems form the foundation for why cities are turning to computer vision — a technology capable of monitoring at a scale and speed no human team can match.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problem identified, computer vision offers a targeted solution. Vehicle detection combined with traffic density analysis eases congestion by enabling adaptive signal timing. Real-time incident detection flags accidents within seconds instead of minutes. Face recognition and behavior analysis strengthen public safety monitoring, while Automatic Number Plate Recognition, or ANPR, identifies illegally parked vehicles instantly. Crowd monitoring estimates density at events to prevent stampedes, and smart waste bin monitoring uses cameras or fill-level sensors to optimize collection routes. This problem-to-solution mapping is the core value proposition of computer vision in urban management.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areas represent where computer vision delivers the most impact today. Smart Traffic Management uses live vehicle counts to adjust signal timing dynamically. Intelligent Surveillance automates threat and anomaly detection across thousands of camera feeds. Smart Parking guides drivers to available spots using real-time occupancy detection. Public Transport Monitoring tracks bus and train occupancy and punctuality, Waste Management schedules collection based on bin fill-levels, and Disaster Detection identifies floods, fires, or structural damage early using aerial and ground camera feeds. Together these applications form the operational backbone of a modern smart city.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Weighing this technology fairly matters. On the benefit side, computer vision improves public safety, reduces traffic congestion, speeds up emergency response, and improves how cities allocate limited resources. But real challenges remain: privacy concerns around constant surveillance, the high cost of city-wide infrastructure, data security risks from centralized video storage, and broader ethical questions about consent and bias. Looking forward, the field is moving toward fully autonomous cities, AI-powered drones for aerial monitoring, edge AI for faster on-device processing, and 5G-enabled computer vision feeding real-time digital twins of entire cities. Understanding both sides prepares us to build this responsibly.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happy to take any questions about computer vision techniques, the case studies discussed, or the underlying technologies. The references shown here include peer-reviewed IEEE, Springer, and Elsevier publications, along with official government smart city initiative sources from Singapore and India, which informed the technical accuracy of this presentation. These sources are also good starting points if anyone would like to explore the topic further for their own project or research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8.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a:effectLst/>
      </p:bgPr>
    </p:bg>
    <p:spTree>
      <p:nvGrpSpPr>
        <p:cNvPr id="1" name=""/>
        <p:cNvGrpSpPr/>
        <p:nvPr/>
      </p:nvGrpSpPr>
      <p:grpSpPr>
        <a:xfrm>
          <a:off x="0" y="0"/>
          <a:ext cx="0" cy="0"/>
          <a:chOff x="0" y="0"/>
          <a:chExt cx="0" cy="0"/>
        </a:xfrm>
      </p:grpSpPr>
      <p:sp>
        <p:nvSpPr>
          <p:cNvPr id="2" name="Shape 0"/>
          <p:cNvSpPr/>
          <p:nvPr/>
        </p:nvSpPr>
        <p:spPr>
          <a:xfrm>
            <a:off x="0" y="4937760"/>
            <a:ext cx="502920" cy="1920240"/>
          </a:xfrm>
          <a:prstGeom prst="rect">
            <a:avLst/>
          </a:prstGeom>
          <a:solidFill>
            <a:srgbClr val="1D3A63"/>
          </a:solidFill>
          <a:ln/>
        </p:spPr>
      </p:sp>
      <p:sp>
        <p:nvSpPr>
          <p:cNvPr id="3" name="Shape 1"/>
          <p:cNvSpPr/>
          <p:nvPr/>
        </p:nvSpPr>
        <p:spPr>
          <a:xfrm>
            <a:off x="192024" y="5010912"/>
            <a:ext cx="64008" cy="91440"/>
          </a:xfrm>
          <a:prstGeom prst="rect">
            <a:avLst/>
          </a:prstGeom>
          <a:solidFill>
            <a:srgbClr val="5FA8E0"/>
          </a:solidFill>
          <a:ln/>
        </p:spPr>
      </p:sp>
      <p:sp>
        <p:nvSpPr>
          <p:cNvPr id="4" name="Shape 2"/>
          <p:cNvSpPr/>
          <p:nvPr/>
        </p:nvSpPr>
        <p:spPr>
          <a:xfrm>
            <a:off x="338328" y="5010912"/>
            <a:ext cx="64008" cy="91440"/>
          </a:xfrm>
          <a:prstGeom prst="rect">
            <a:avLst/>
          </a:prstGeom>
          <a:solidFill>
            <a:srgbClr val="5FA8E0"/>
          </a:solidFill>
          <a:ln/>
        </p:spPr>
      </p:sp>
      <p:sp>
        <p:nvSpPr>
          <p:cNvPr id="5" name="Shape 3"/>
          <p:cNvSpPr/>
          <p:nvPr/>
        </p:nvSpPr>
        <p:spPr>
          <a:xfrm>
            <a:off x="45720" y="5303520"/>
            <a:ext cx="64008" cy="91440"/>
          </a:xfrm>
          <a:prstGeom prst="rect">
            <a:avLst/>
          </a:prstGeom>
          <a:solidFill>
            <a:srgbClr val="5FA8E0"/>
          </a:solidFill>
          <a:ln/>
        </p:spPr>
      </p:sp>
      <p:sp>
        <p:nvSpPr>
          <p:cNvPr id="6" name="Shape 4"/>
          <p:cNvSpPr/>
          <p:nvPr/>
        </p:nvSpPr>
        <p:spPr>
          <a:xfrm>
            <a:off x="192024" y="5303520"/>
            <a:ext cx="64008" cy="91440"/>
          </a:xfrm>
          <a:prstGeom prst="rect">
            <a:avLst/>
          </a:prstGeom>
          <a:solidFill>
            <a:srgbClr val="5FA8E0"/>
          </a:solidFill>
          <a:ln/>
        </p:spPr>
      </p:sp>
      <p:sp>
        <p:nvSpPr>
          <p:cNvPr id="7" name="Shape 5"/>
          <p:cNvSpPr/>
          <p:nvPr/>
        </p:nvSpPr>
        <p:spPr>
          <a:xfrm>
            <a:off x="45720" y="5596128"/>
            <a:ext cx="64008" cy="91440"/>
          </a:xfrm>
          <a:prstGeom prst="rect">
            <a:avLst/>
          </a:prstGeom>
          <a:solidFill>
            <a:srgbClr val="5FA8E0"/>
          </a:solidFill>
          <a:ln/>
        </p:spPr>
      </p:sp>
      <p:sp>
        <p:nvSpPr>
          <p:cNvPr id="8" name="Shape 6"/>
          <p:cNvSpPr/>
          <p:nvPr/>
        </p:nvSpPr>
        <p:spPr>
          <a:xfrm>
            <a:off x="338328" y="5596128"/>
            <a:ext cx="64008" cy="91440"/>
          </a:xfrm>
          <a:prstGeom prst="rect">
            <a:avLst/>
          </a:prstGeom>
          <a:solidFill>
            <a:srgbClr val="5FA8E0"/>
          </a:solidFill>
          <a:ln/>
        </p:spPr>
      </p:sp>
      <p:sp>
        <p:nvSpPr>
          <p:cNvPr id="9" name="Shape 7"/>
          <p:cNvSpPr/>
          <p:nvPr/>
        </p:nvSpPr>
        <p:spPr>
          <a:xfrm>
            <a:off x="192024" y="5888736"/>
            <a:ext cx="64008" cy="91440"/>
          </a:xfrm>
          <a:prstGeom prst="rect">
            <a:avLst/>
          </a:prstGeom>
          <a:solidFill>
            <a:srgbClr val="5FA8E0"/>
          </a:solidFill>
          <a:ln/>
        </p:spPr>
      </p:sp>
      <p:sp>
        <p:nvSpPr>
          <p:cNvPr id="10" name="Shape 8"/>
          <p:cNvSpPr/>
          <p:nvPr/>
        </p:nvSpPr>
        <p:spPr>
          <a:xfrm>
            <a:off x="338328" y="5888736"/>
            <a:ext cx="64008" cy="91440"/>
          </a:xfrm>
          <a:prstGeom prst="rect">
            <a:avLst/>
          </a:prstGeom>
          <a:solidFill>
            <a:srgbClr val="5FA8E0"/>
          </a:solidFill>
          <a:ln/>
        </p:spPr>
      </p:sp>
      <p:sp>
        <p:nvSpPr>
          <p:cNvPr id="11" name="Shape 9"/>
          <p:cNvSpPr/>
          <p:nvPr/>
        </p:nvSpPr>
        <p:spPr>
          <a:xfrm>
            <a:off x="45720" y="6181344"/>
            <a:ext cx="64008" cy="91440"/>
          </a:xfrm>
          <a:prstGeom prst="rect">
            <a:avLst/>
          </a:prstGeom>
          <a:solidFill>
            <a:srgbClr val="5FA8E0"/>
          </a:solidFill>
          <a:ln/>
        </p:spPr>
      </p:sp>
      <p:sp>
        <p:nvSpPr>
          <p:cNvPr id="12" name="Shape 10"/>
          <p:cNvSpPr/>
          <p:nvPr/>
        </p:nvSpPr>
        <p:spPr>
          <a:xfrm>
            <a:off x="192024" y="6181344"/>
            <a:ext cx="64008" cy="91440"/>
          </a:xfrm>
          <a:prstGeom prst="rect">
            <a:avLst/>
          </a:prstGeom>
          <a:solidFill>
            <a:srgbClr val="5FA8E0"/>
          </a:solidFill>
          <a:ln/>
        </p:spPr>
      </p:sp>
      <p:sp>
        <p:nvSpPr>
          <p:cNvPr id="13" name="Shape 11"/>
          <p:cNvSpPr/>
          <p:nvPr/>
        </p:nvSpPr>
        <p:spPr>
          <a:xfrm>
            <a:off x="45720" y="6473952"/>
            <a:ext cx="64008" cy="91440"/>
          </a:xfrm>
          <a:prstGeom prst="rect">
            <a:avLst/>
          </a:prstGeom>
          <a:solidFill>
            <a:srgbClr val="5FA8E0"/>
          </a:solidFill>
          <a:ln/>
        </p:spPr>
      </p:sp>
      <p:sp>
        <p:nvSpPr>
          <p:cNvPr id="14" name="Shape 12"/>
          <p:cNvSpPr/>
          <p:nvPr/>
        </p:nvSpPr>
        <p:spPr>
          <a:xfrm>
            <a:off x="338328" y="6473952"/>
            <a:ext cx="64008" cy="91440"/>
          </a:xfrm>
          <a:prstGeom prst="rect">
            <a:avLst/>
          </a:prstGeom>
          <a:solidFill>
            <a:srgbClr val="5FA8E0"/>
          </a:solidFill>
          <a:ln/>
        </p:spPr>
      </p:sp>
      <p:sp>
        <p:nvSpPr>
          <p:cNvPr id="15" name="Shape 13"/>
          <p:cNvSpPr/>
          <p:nvPr/>
        </p:nvSpPr>
        <p:spPr>
          <a:xfrm>
            <a:off x="502920" y="4480560"/>
            <a:ext cx="457200" cy="2377440"/>
          </a:xfrm>
          <a:prstGeom prst="rect">
            <a:avLst/>
          </a:prstGeom>
          <a:solidFill>
            <a:srgbClr val="24466F"/>
          </a:solidFill>
          <a:ln/>
        </p:spPr>
      </p:sp>
      <p:sp>
        <p:nvSpPr>
          <p:cNvPr id="16" name="Shape 14"/>
          <p:cNvSpPr/>
          <p:nvPr/>
        </p:nvSpPr>
        <p:spPr>
          <a:xfrm>
            <a:off x="694944" y="4553712"/>
            <a:ext cx="64008" cy="91440"/>
          </a:xfrm>
          <a:prstGeom prst="rect">
            <a:avLst/>
          </a:prstGeom>
          <a:solidFill>
            <a:srgbClr val="5FA8E0"/>
          </a:solidFill>
          <a:ln/>
        </p:spPr>
      </p:sp>
      <p:sp>
        <p:nvSpPr>
          <p:cNvPr id="17" name="Shape 15"/>
          <p:cNvSpPr/>
          <p:nvPr/>
        </p:nvSpPr>
        <p:spPr>
          <a:xfrm>
            <a:off x="841248" y="4553712"/>
            <a:ext cx="64008" cy="91440"/>
          </a:xfrm>
          <a:prstGeom prst="rect">
            <a:avLst/>
          </a:prstGeom>
          <a:solidFill>
            <a:srgbClr val="5FA8E0"/>
          </a:solidFill>
          <a:ln/>
        </p:spPr>
      </p:sp>
      <p:sp>
        <p:nvSpPr>
          <p:cNvPr id="18" name="Shape 16"/>
          <p:cNvSpPr/>
          <p:nvPr/>
        </p:nvSpPr>
        <p:spPr>
          <a:xfrm>
            <a:off x="548640" y="4846320"/>
            <a:ext cx="64008" cy="91440"/>
          </a:xfrm>
          <a:prstGeom prst="rect">
            <a:avLst/>
          </a:prstGeom>
          <a:solidFill>
            <a:srgbClr val="5FA8E0"/>
          </a:solidFill>
          <a:ln/>
        </p:spPr>
      </p:sp>
      <p:sp>
        <p:nvSpPr>
          <p:cNvPr id="19" name="Shape 17"/>
          <p:cNvSpPr/>
          <p:nvPr/>
        </p:nvSpPr>
        <p:spPr>
          <a:xfrm>
            <a:off x="694944" y="4846320"/>
            <a:ext cx="64008" cy="91440"/>
          </a:xfrm>
          <a:prstGeom prst="rect">
            <a:avLst/>
          </a:prstGeom>
          <a:solidFill>
            <a:srgbClr val="5FA8E0"/>
          </a:solidFill>
          <a:ln/>
        </p:spPr>
      </p:sp>
      <p:sp>
        <p:nvSpPr>
          <p:cNvPr id="20" name="Shape 18"/>
          <p:cNvSpPr/>
          <p:nvPr/>
        </p:nvSpPr>
        <p:spPr>
          <a:xfrm>
            <a:off x="548640" y="5138928"/>
            <a:ext cx="64008" cy="91440"/>
          </a:xfrm>
          <a:prstGeom prst="rect">
            <a:avLst/>
          </a:prstGeom>
          <a:solidFill>
            <a:srgbClr val="5FA8E0"/>
          </a:solidFill>
          <a:ln/>
        </p:spPr>
      </p:sp>
      <p:sp>
        <p:nvSpPr>
          <p:cNvPr id="21" name="Shape 19"/>
          <p:cNvSpPr/>
          <p:nvPr/>
        </p:nvSpPr>
        <p:spPr>
          <a:xfrm>
            <a:off x="841248" y="5138928"/>
            <a:ext cx="64008" cy="91440"/>
          </a:xfrm>
          <a:prstGeom prst="rect">
            <a:avLst/>
          </a:prstGeom>
          <a:solidFill>
            <a:srgbClr val="5FA8E0"/>
          </a:solidFill>
          <a:ln/>
        </p:spPr>
      </p:sp>
      <p:sp>
        <p:nvSpPr>
          <p:cNvPr id="22" name="Shape 20"/>
          <p:cNvSpPr/>
          <p:nvPr/>
        </p:nvSpPr>
        <p:spPr>
          <a:xfrm>
            <a:off x="694944" y="5431536"/>
            <a:ext cx="64008" cy="91440"/>
          </a:xfrm>
          <a:prstGeom prst="rect">
            <a:avLst/>
          </a:prstGeom>
          <a:solidFill>
            <a:srgbClr val="5FA8E0"/>
          </a:solidFill>
          <a:ln/>
        </p:spPr>
      </p:sp>
      <p:sp>
        <p:nvSpPr>
          <p:cNvPr id="23" name="Shape 21"/>
          <p:cNvSpPr/>
          <p:nvPr/>
        </p:nvSpPr>
        <p:spPr>
          <a:xfrm>
            <a:off x="841248" y="5431536"/>
            <a:ext cx="64008" cy="91440"/>
          </a:xfrm>
          <a:prstGeom prst="rect">
            <a:avLst/>
          </a:prstGeom>
          <a:solidFill>
            <a:srgbClr val="5FA8E0"/>
          </a:solidFill>
          <a:ln/>
        </p:spPr>
      </p:sp>
      <p:sp>
        <p:nvSpPr>
          <p:cNvPr id="24" name="Shape 22"/>
          <p:cNvSpPr/>
          <p:nvPr/>
        </p:nvSpPr>
        <p:spPr>
          <a:xfrm>
            <a:off x="548640" y="5724144"/>
            <a:ext cx="64008" cy="91440"/>
          </a:xfrm>
          <a:prstGeom prst="rect">
            <a:avLst/>
          </a:prstGeom>
          <a:solidFill>
            <a:srgbClr val="5FA8E0"/>
          </a:solidFill>
          <a:ln/>
        </p:spPr>
      </p:sp>
      <p:sp>
        <p:nvSpPr>
          <p:cNvPr id="25" name="Shape 23"/>
          <p:cNvSpPr/>
          <p:nvPr/>
        </p:nvSpPr>
        <p:spPr>
          <a:xfrm>
            <a:off x="694944" y="5724144"/>
            <a:ext cx="64008" cy="91440"/>
          </a:xfrm>
          <a:prstGeom prst="rect">
            <a:avLst/>
          </a:prstGeom>
          <a:solidFill>
            <a:srgbClr val="5FA8E0"/>
          </a:solidFill>
          <a:ln/>
        </p:spPr>
      </p:sp>
      <p:sp>
        <p:nvSpPr>
          <p:cNvPr id="26" name="Shape 24"/>
          <p:cNvSpPr/>
          <p:nvPr/>
        </p:nvSpPr>
        <p:spPr>
          <a:xfrm>
            <a:off x="548640" y="6016752"/>
            <a:ext cx="64008" cy="91440"/>
          </a:xfrm>
          <a:prstGeom prst="rect">
            <a:avLst/>
          </a:prstGeom>
          <a:solidFill>
            <a:srgbClr val="5FA8E0"/>
          </a:solidFill>
          <a:ln/>
        </p:spPr>
      </p:sp>
      <p:sp>
        <p:nvSpPr>
          <p:cNvPr id="27" name="Shape 25"/>
          <p:cNvSpPr/>
          <p:nvPr/>
        </p:nvSpPr>
        <p:spPr>
          <a:xfrm>
            <a:off x="841248" y="6016752"/>
            <a:ext cx="64008" cy="91440"/>
          </a:xfrm>
          <a:prstGeom prst="rect">
            <a:avLst/>
          </a:prstGeom>
          <a:solidFill>
            <a:srgbClr val="5FA8E0"/>
          </a:solidFill>
          <a:ln/>
        </p:spPr>
      </p:sp>
      <p:sp>
        <p:nvSpPr>
          <p:cNvPr id="28" name="Shape 26"/>
          <p:cNvSpPr/>
          <p:nvPr/>
        </p:nvSpPr>
        <p:spPr>
          <a:xfrm>
            <a:off x="694944" y="6309360"/>
            <a:ext cx="64008" cy="91440"/>
          </a:xfrm>
          <a:prstGeom prst="rect">
            <a:avLst/>
          </a:prstGeom>
          <a:solidFill>
            <a:srgbClr val="5FA8E0"/>
          </a:solidFill>
          <a:ln/>
        </p:spPr>
      </p:sp>
      <p:sp>
        <p:nvSpPr>
          <p:cNvPr id="29" name="Shape 27"/>
          <p:cNvSpPr/>
          <p:nvPr/>
        </p:nvSpPr>
        <p:spPr>
          <a:xfrm>
            <a:off x="841248" y="6309360"/>
            <a:ext cx="64008" cy="91440"/>
          </a:xfrm>
          <a:prstGeom prst="rect">
            <a:avLst/>
          </a:prstGeom>
          <a:solidFill>
            <a:srgbClr val="5FA8E0"/>
          </a:solidFill>
          <a:ln/>
        </p:spPr>
      </p:sp>
      <p:sp>
        <p:nvSpPr>
          <p:cNvPr id="30" name="Shape 28"/>
          <p:cNvSpPr/>
          <p:nvPr/>
        </p:nvSpPr>
        <p:spPr>
          <a:xfrm>
            <a:off x="548640" y="6601968"/>
            <a:ext cx="64008" cy="91440"/>
          </a:xfrm>
          <a:prstGeom prst="rect">
            <a:avLst/>
          </a:prstGeom>
          <a:solidFill>
            <a:srgbClr val="5FA8E0"/>
          </a:solidFill>
          <a:ln/>
        </p:spPr>
      </p:sp>
      <p:sp>
        <p:nvSpPr>
          <p:cNvPr id="31" name="Shape 29"/>
          <p:cNvSpPr/>
          <p:nvPr/>
        </p:nvSpPr>
        <p:spPr>
          <a:xfrm>
            <a:off x="694944" y="6601968"/>
            <a:ext cx="64008" cy="91440"/>
          </a:xfrm>
          <a:prstGeom prst="rect">
            <a:avLst/>
          </a:prstGeom>
          <a:solidFill>
            <a:srgbClr val="5FA8E0"/>
          </a:solidFill>
          <a:ln/>
        </p:spPr>
      </p:sp>
      <p:sp>
        <p:nvSpPr>
          <p:cNvPr id="32" name="Shape 30"/>
          <p:cNvSpPr/>
          <p:nvPr/>
        </p:nvSpPr>
        <p:spPr>
          <a:xfrm>
            <a:off x="960120" y="5120640"/>
            <a:ext cx="411480" cy="1737360"/>
          </a:xfrm>
          <a:prstGeom prst="rect">
            <a:avLst/>
          </a:prstGeom>
          <a:solidFill>
            <a:srgbClr val="1D3A63"/>
          </a:solidFill>
          <a:ln/>
        </p:spPr>
      </p:sp>
      <p:sp>
        <p:nvSpPr>
          <p:cNvPr id="33" name="Shape 31"/>
          <p:cNvSpPr/>
          <p:nvPr/>
        </p:nvSpPr>
        <p:spPr>
          <a:xfrm>
            <a:off x="1152144" y="5193792"/>
            <a:ext cx="64008" cy="91440"/>
          </a:xfrm>
          <a:prstGeom prst="rect">
            <a:avLst/>
          </a:prstGeom>
          <a:solidFill>
            <a:srgbClr val="5FA8E0"/>
          </a:solidFill>
          <a:ln/>
        </p:spPr>
      </p:sp>
      <p:sp>
        <p:nvSpPr>
          <p:cNvPr id="34" name="Shape 32"/>
          <p:cNvSpPr/>
          <p:nvPr/>
        </p:nvSpPr>
        <p:spPr>
          <a:xfrm>
            <a:off x="1005840" y="5486400"/>
            <a:ext cx="64008" cy="91440"/>
          </a:xfrm>
          <a:prstGeom prst="rect">
            <a:avLst/>
          </a:prstGeom>
          <a:solidFill>
            <a:srgbClr val="5FA8E0"/>
          </a:solidFill>
          <a:ln/>
        </p:spPr>
      </p:sp>
      <p:sp>
        <p:nvSpPr>
          <p:cNvPr id="35" name="Shape 33"/>
          <p:cNvSpPr/>
          <p:nvPr/>
        </p:nvSpPr>
        <p:spPr>
          <a:xfrm>
            <a:off x="1152144" y="5486400"/>
            <a:ext cx="64008" cy="91440"/>
          </a:xfrm>
          <a:prstGeom prst="rect">
            <a:avLst/>
          </a:prstGeom>
          <a:solidFill>
            <a:srgbClr val="5FA8E0"/>
          </a:solidFill>
          <a:ln/>
        </p:spPr>
      </p:sp>
      <p:sp>
        <p:nvSpPr>
          <p:cNvPr id="36" name="Shape 34"/>
          <p:cNvSpPr/>
          <p:nvPr/>
        </p:nvSpPr>
        <p:spPr>
          <a:xfrm>
            <a:off x="1005840" y="5779008"/>
            <a:ext cx="64008" cy="91440"/>
          </a:xfrm>
          <a:prstGeom prst="rect">
            <a:avLst/>
          </a:prstGeom>
          <a:solidFill>
            <a:srgbClr val="5FA8E0"/>
          </a:solidFill>
          <a:ln/>
        </p:spPr>
      </p:sp>
      <p:sp>
        <p:nvSpPr>
          <p:cNvPr id="37" name="Shape 35"/>
          <p:cNvSpPr/>
          <p:nvPr/>
        </p:nvSpPr>
        <p:spPr>
          <a:xfrm>
            <a:off x="1152144" y="6071616"/>
            <a:ext cx="64008" cy="91440"/>
          </a:xfrm>
          <a:prstGeom prst="rect">
            <a:avLst/>
          </a:prstGeom>
          <a:solidFill>
            <a:srgbClr val="5FA8E0"/>
          </a:solidFill>
          <a:ln/>
        </p:spPr>
      </p:sp>
      <p:sp>
        <p:nvSpPr>
          <p:cNvPr id="38" name="Shape 36"/>
          <p:cNvSpPr/>
          <p:nvPr/>
        </p:nvSpPr>
        <p:spPr>
          <a:xfrm>
            <a:off x="1005840" y="6364224"/>
            <a:ext cx="64008" cy="91440"/>
          </a:xfrm>
          <a:prstGeom prst="rect">
            <a:avLst/>
          </a:prstGeom>
          <a:solidFill>
            <a:srgbClr val="5FA8E0"/>
          </a:solidFill>
          <a:ln/>
        </p:spPr>
      </p:sp>
      <p:sp>
        <p:nvSpPr>
          <p:cNvPr id="39" name="Shape 37"/>
          <p:cNvSpPr/>
          <p:nvPr/>
        </p:nvSpPr>
        <p:spPr>
          <a:xfrm>
            <a:off x="1152144" y="6364224"/>
            <a:ext cx="64008" cy="91440"/>
          </a:xfrm>
          <a:prstGeom prst="rect">
            <a:avLst/>
          </a:prstGeom>
          <a:solidFill>
            <a:srgbClr val="5FA8E0"/>
          </a:solidFill>
          <a:ln/>
        </p:spPr>
      </p:sp>
      <p:sp>
        <p:nvSpPr>
          <p:cNvPr id="40" name="Shape 38"/>
          <p:cNvSpPr/>
          <p:nvPr/>
        </p:nvSpPr>
        <p:spPr>
          <a:xfrm>
            <a:off x="1371600" y="4206240"/>
            <a:ext cx="548640" cy="2651760"/>
          </a:xfrm>
          <a:prstGeom prst="rect">
            <a:avLst/>
          </a:prstGeom>
          <a:solidFill>
            <a:srgbClr val="24466F"/>
          </a:solidFill>
          <a:ln/>
        </p:spPr>
      </p:sp>
      <p:sp>
        <p:nvSpPr>
          <p:cNvPr id="41" name="Shape 39"/>
          <p:cNvSpPr/>
          <p:nvPr/>
        </p:nvSpPr>
        <p:spPr>
          <a:xfrm>
            <a:off x="1563624" y="4279392"/>
            <a:ext cx="64008" cy="91440"/>
          </a:xfrm>
          <a:prstGeom prst="rect">
            <a:avLst/>
          </a:prstGeom>
          <a:solidFill>
            <a:srgbClr val="5FA8E0"/>
          </a:solidFill>
          <a:ln/>
        </p:spPr>
      </p:sp>
      <p:sp>
        <p:nvSpPr>
          <p:cNvPr id="42" name="Shape 40"/>
          <p:cNvSpPr/>
          <p:nvPr/>
        </p:nvSpPr>
        <p:spPr>
          <a:xfrm>
            <a:off x="1709928" y="4279392"/>
            <a:ext cx="64008" cy="91440"/>
          </a:xfrm>
          <a:prstGeom prst="rect">
            <a:avLst/>
          </a:prstGeom>
          <a:solidFill>
            <a:srgbClr val="5FA8E0"/>
          </a:solidFill>
          <a:ln/>
        </p:spPr>
      </p:sp>
      <p:sp>
        <p:nvSpPr>
          <p:cNvPr id="43" name="Shape 41"/>
          <p:cNvSpPr/>
          <p:nvPr/>
        </p:nvSpPr>
        <p:spPr>
          <a:xfrm>
            <a:off x="1417320" y="4572000"/>
            <a:ext cx="64008" cy="91440"/>
          </a:xfrm>
          <a:prstGeom prst="rect">
            <a:avLst/>
          </a:prstGeom>
          <a:solidFill>
            <a:srgbClr val="5FA8E0"/>
          </a:solidFill>
          <a:ln/>
        </p:spPr>
      </p:sp>
      <p:sp>
        <p:nvSpPr>
          <p:cNvPr id="44" name="Shape 42"/>
          <p:cNvSpPr/>
          <p:nvPr/>
        </p:nvSpPr>
        <p:spPr>
          <a:xfrm>
            <a:off x="1563624" y="4572000"/>
            <a:ext cx="64008" cy="91440"/>
          </a:xfrm>
          <a:prstGeom prst="rect">
            <a:avLst/>
          </a:prstGeom>
          <a:solidFill>
            <a:srgbClr val="5FA8E0"/>
          </a:solidFill>
          <a:ln/>
        </p:spPr>
      </p:sp>
      <p:sp>
        <p:nvSpPr>
          <p:cNvPr id="45" name="Shape 43"/>
          <p:cNvSpPr/>
          <p:nvPr/>
        </p:nvSpPr>
        <p:spPr>
          <a:xfrm>
            <a:off x="1417320" y="4864608"/>
            <a:ext cx="64008" cy="91440"/>
          </a:xfrm>
          <a:prstGeom prst="rect">
            <a:avLst/>
          </a:prstGeom>
          <a:solidFill>
            <a:srgbClr val="5FA8E0"/>
          </a:solidFill>
          <a:ln/>
        </p:spPr>
      </p:sp>
      <p:sp>
        <p:nvSpPr>
          <p:cNvPr id="46" name="Shape 44"/>
          <p:cNvSpPr/>
          <p:nvPr/>
        </p:nvSpPr>
        <p:spPr>
          <a:xfrm>
            <a:off x="1709928" y="4864608"/>
            <a:ext cx="64008" cy="91440"/>
          </a:xfrm>
          <a:prstGeom prst="rect">
            <a:avLst/>
          </a:prstGeom>
          <a:solidFill>
            <a:srgbClr val="5FA8E0"/>
          </a:solidFill>
          <a:ln/>
        </p:spPr>
      </p:sp>
      <p:sp>
        <p:nvSpPr>
          <p:cNvPr id="47" name="Shape 45"/>
          <p:cNvSpPr/>
          <p:nvPr/>
        </p:nvSpPr>
        <p:spPr>
          <a:xfrm>
            <a:off x="1563624" y="5157216"/>
            <a:ext cx="64008" cy="91440"/>
          </a:xfrm>
          <a:prstGeom prst="rect">
            <a:avLst/>
          </a:prstGeom>
          <a:solidFill>
            <a:srgbClr val="5FA8E0"/>
          </a:solidFill>
          <a:ln/>
        </p:spPr>
      </p:sp>
      <p:sp>
        <p:nvSpPr>
          <p:cNvPr id="48" name="Shape 46"/>
          <p:cNvSpPr/>
          <p:nvPr/>
        </p:nvSpPr>
        <p:spPr>
          <a:xfrm>
            <a:off x="1709928" y="5157216"/>
            <a:ext cx="64008" cy="91440"/>
          </a:xfrm>
          <a:prstGeom prst="rect">
            <a:avLst/>
          </a:prstGeom>
          <a:solidFill>
            <a:srgbClr val="5FA8E0"/>
          </a:solidFill>
          <a:ln/>
        </p:spPr>
      </p:sp>
      <p:sp>
        <p:nvSpPr>
          <p:cNvPr id="49" name="Shape 47"/>
          <p:cNvSpPr/>
          <p:nvPr/>
        </p:nvSpPr>
        <p:spPr>
          <a:xfrm>
            <a:off x="1417320" y="5449824"/>
            <a:ext cx="64008" cy="91440"/>
          </a:xfrm>
          <a:prstGeom prst="rect">
            <a:avLst/>
          </a:prstGeom>
          <a:solidFill>
            <a:srgbClr val="5FA8E0"/>
          </a:solidFill>
          <a:ln/>
        </p:spPr>
      </p:sp>
      <p:sp>
        <p:nvSpPr>
          <p:cNvPr id="50" name="Shape 48"/>
          <p:cNvSpPr/>
          <p:nvPr/>
        </p:nvSpPr>
        <p:spPr>
          <a:xfrm>
            <a:off x="1563624" y="5449824"/>
            <a:ext cx="64008" cy="91440"/>
          </a:xfrm>
          <a:prstGeom prst="rect">
            <a:avLst/>
          </a:prstGeom>
          <a:solidFill>
            <a:srgbClr val="5FA8E0"/>
          </a:solidFill>
          <a:ln/>
        </p:spPr>
      </p:sp>
      <p:sp>
        <p:nvSpPr>
          <p:cNvPr id="51" name="Shape 49"/>
          <p:cNvSpPr/>
          <p:nvPr/>
        </p:nvSpPr>
        <p:spPr>
          <a:xfrm>
            <a:off x="1417320" y="5742432"/>
            <a:ext cx="64008" cy="91440"/>
          </a:xfrm>
          <a:prstGeom prst="rect">
            <a:avLst/>
          </a:prstGeom>
          <a:solidFill>
            <a:srgbClr val="5FA8E0"/>
          </a:solidFill>
          <a:ln/>
        </p:spPr>
      </p:sp>
      <p:sp>
        <p:nvSpPr>
          <p:cNvPr id="52" name="Shape 50"/>
          <p:cNvSpPr/>
          <p:nvPr/>
        </p:nvSpPr>
        <p:spPr>
          <a:xfrm>
            <a:off x="1709928" y="5742432"/>
            <a:ext cx="64008" cy="91440"/>
          </a:xfrm>
          <a:prstGeom prst="rect">
            <a:avLst/>
          </a:prstGeom>
          <a:solidFill>
            <a:srgbClr val="5FA8E0"/>
          </a:solidFill>
          <a:ln/>
        </p:spPr>
      </p:sp>
      <p:sp>
        <p:nvSpPr>
          <p:cNvPr id="53" name="Shape 51"/>
          <p:cNvSpPr/>
          <p:nvPr/>
        </p:nvSpPr>
        <p:spPr>
          <a:xfrm>
            <a:off x="1563624" y="6035040"/>
            <a:ext cx="64008" cy="91440"/>
          </a:xfrm>
          <a:prstGeom prst="rect">
            <a:avLst/>
          </a:prstGeom>
          <a:solidFill>
            <a:srgbClr val="5FA8E0"/>
          </a:solidFill>
          <a:ln/>
        </p:spPr>
      </p:sp>
      <p:sp>
        <p:nvSpPr>
          <p:cNvPr id="54" name="Shape 52"/>
          <p:cNvSpPr/>
          <p:nvPr/>
        </p:nvSpPr>
        <p:spPr>
          <a:xfrm>
            <a:off x="1709928" y="6035040"/>
            <a:ext cx="64008" cy="91440"/>
          </a:xfrm>
          <a:prstGeom prst="rect">
            <a:avLst/>
          </a:prstGeom>
          <a:solidFill>
            <a:srgbClr val="5FA8E0"/>
          </a:solidFill>
          <a:ln/>
        </p:spPr>
      </p:sp>
      <p:sp>
        <p:nvSpPr>
          <p:cNvPr id="55" name="Shape 53"/>
          <p:cNvSpPr/>
          <p:nvPr/>
        </p:nvSpPr>
        <p:spPr>
          <a:xfrm>
            <a:off x="1417320" y="6327648"/>
            <a:ext cx="64008" cy="91440"/>
          </a:xfrm>
          <a:prstGeom prst="rect">
            <a:avLst/>
          </a:prstGeom>
          <a:solidFill>
            <a:srgbClr val="5FA8E0"/>
          </a:solidFill>
          <a:ln/>
        </p:spPr>
      </p:sp>
      <p:sp>
        <p:nvSpPr>
          <p:cNvPr id="56" name="Shape 54"/>
          <p:cNvSpPr/>
          <p:nvPr/>
        </p:nvSpPr>
        <p:spPr>
          <a:xfrm>
            <a:off x="1563624" y="6327648"/>
            <a:ext cx="64008" cy="91440"/>
          </a:xfrm>
          <a:prstGeom prst="rect">
            <a:avLst/>
          </a:prstGeom>
          <a:solidFill>
            <a:srgbClr val="5FA8E0"/>
          </a:solidFill>
          <a:ln/>
        </p:spPr>
      </p:sp>
      <p:sp>
        <p:nvSpPr>
          <p:cNvPr id="57" name="Shape 55"/>
          <p:cNvSpPr/>
          <p:nvPr/>
        </p:nvSpPr>
        <p:spPr>
          <a:xfrm>
            <a:off x="1417320" y="6620256"/>
            <a:ext cx="64008" cy="91440"/>
          </a:xfrm>
          <a:prstGeom prst="rect">
            <a:avLst/>
          </a:prstGeom>
          <a:solidFill>
            <a:srgbClr val="5FA8E0"/>
          </a:solidFill>
          <a:ln/>
        </p:spPr>
      </p:sp>
      <p:sp>
        <p:nvSpPr>
          <p:cNvPr id="58" name="Shape 56"/>
          <p:cNvSpPr/>
          <p:nvPr/>
        </p:nvSpPr>
        <p:spPr>
          <a:xfrm>
            <a:off x="1709928" y="6620256"/>
            <a:ext cx="64008" cy="91440"/>
          </a:xfrm>
          <a:prstGeom prst="rect">
            <a:avLst/>
          </a:prstGeom>
          <a:solidFill>
            <a:srgbClr val="5FA8E0"/>
          </a:solidFill>
          <a:ln/>
        </p:spPr>
      </p:sp>
      <p:sp>
        <p:nvSpPr>
          <p:cNvPr id="59" name="Shape 57"/>
          <p:cNvSpPr/>
          <p:nvPr/>
        </p:nvSpPr>
        <p:spPr>
          <a:xfrm>
            <a:off x="1920240" y="4754880"/>
            <a:ext cx="457200" cy="2103120"/>
          </a:xfrm>
          <a:prstGeom prst="rect">
            <a:avLst/>
          </a:prstGeom>
          <a:solidFill>
            <a:srgbClr val="1D3A63"/>
          </a:solidFill>
          <a:ln/>
        </p:spPr>
      </p:sp>
      <p:sp>
        <p:nvSpPr>
          <p:cNvPr id="60" name="Shape 58"/>
          <p:cNvSpPr/>
          <p:nvPr/>
        </p:nvSpPr>
        <p:spPr>
          <a:xfrm>
            <a:off x="2112264" y="4828032"/>
            <a:ext cx="64008" cy="91440"/>
          </a:xfrm>
          <a:prstGeom prst="rect">
            <a:avLst/>
          </a:prstGeom>
          <a:solidFill>
            <a:srgbClr val="5FA8E0"/>
          </a:solidFill>
          <a:ln/>
        </p:spPr>
      </p:sp>
      <p:sp>
        <p:nvSpPr>
          <p:cNvPr id="61" name="Shape 59"/>
          <p:cNvSpPr/>
          <p:nvPr/>
        </p:nvSpPr>
        <p:spPr>
          <a:xfrm>
            <a:off x="2258568" y="4828032"/>
            <a:ext cx="64008" cy="91440"/>
          </a:xfrm>
          <a:prstGeom prst="rect">
            <a:avLst/>
          </a:prstGeom>
          <a:solidFill>
            <a:srgbClr val="5FA8E0"/>
          </a:solidFill>
          <a:ln/>
        </p:spPr>
      </p:sp>
      <p:sp>
        <p:nvSpPr>
          <p:cNvPr id="62" name="Shape 60"/>
          <p:cNvSpPr/>
          <p:nvPr/>
        </p:nvSpPr>
        <p:spPr>
          <a:xfrm>
            <a:off x="1965960" y="5120640"/>
            <a:ext cx="64008" cy="91440"/>
          </a:xfrm>
          <a:prstGeom prst="rect">
            <a:avLst/>
          </a:prstGeom>
          <a:solidFill>
            <a:srgbClr val="5FA8E0"/>
          </a:solidFill>
          <a:ln/>
        </p:spPr>
      </p:sp>
      <p:sp>
        <p:nvSpPr>
          <p:cNvPr id="63" name="Shape 61"/>
          <p:cNvSpPr/>
          <p:nvPr/>
        </p:nvSpPr>
        <p:spPr>
          <a:xfrm>
            <a:off x="2112264" y="5120640"/>
            <a:ext cx="64008" cy="91440"/>
          </a:xfrm>
          <a:prstGeom prst="rect">
            <a:avLst/>
          </a:prstGeom>
          <a:solidFill>
            <a:srgbClr val="5FA8E0"/>
          </a:solidFill>
          <a:ln/>
        </p:spPr>
      </p:sp>
      <p:sp>
        <p:nvSpPr>
          <p:cNvPr id="64" name="Shape 62"/>
          <p:cNvSpPr/>
          <p:nvPr/>
        </p:nvSpPr>
        <p:spPr>
          <a:xfrm>
            <a:off x="1965960" y="5413248"/>
            <a:ext cx="64008" cy="91440"/>
          </a:xfrm>
          <a:prstGeom prst="rect">
            <a:avLst/>
          </a:prstGeom>
          <a:solidFill>
            <a:srgbClr val="5FA8E0"/>
          </a:solidFill>
          <a:ln/>
        </p:spPr>
      </p:sp>
      <p:sp>
        <p:nvSpPr>
          <p:cNvPr id="65" name="Shape 63"/>
          <p:cNvSpPr/>
          <p:nvPr/>
        </p:nvSpPr>
        <p:spPr>
          <a:xfrm>
            <a:off x="2258568" y="5413248"/>
            <a:ext cx="64008" cy="91440"/>
          </a:xfrm>
          <a:prstGeom prst="rect">
            <a:avLst/>
          </a:prstGeom>
          <a:solidFill>
            <a:srgbClr val="5FA8E0"/>
          </a:solidFill>
          <a:ln/>
        </p:spPr>
      </p:sp>
      <p:sp>
        <p:nvSpPr>
          <p:cNvPr id="66" name="Shape 64"/>
          <p:cNvSpPr/>
          <p:nvPr/>
        </p:nvSpPr>
        <p:spPr>
          <a:xfrm>
            <a:off x="2112264" y="5705856"/>
            <a:ext cx="64008" cy="91440"/>
          </a:xfrm>
          <a:prstGeom prst="rect">
            <a:avLst/>
          </a:prstGeom>
          <a:solidFill>
            <a:srgbClr val="5FA8E0"/>
          </a:solidFill>
          <a:ln/>
        </p:spPr>
      </p:sp>
      <p:sp>
        <p:nvSpPr>
          <p:cNvPr id="67" name="Shape 65"/>
          <p:cNvSpPr/>
          <p:nvPr/>
        </p:nvSpPr>
        <p:spPr>
          <a:xfrm>
            <a:off x="2258568" y="5705856"/>
            <a:ext cx="64008" cy="91440"/>
          </a:xfrm>
          <a:prstGeom prst="rect">
            <a:avLst/>
          </a:prstGeom>
          <a:solidFill>
            <a:srgbClr val="5FA8E0"/>
          </a:solidFill>
          <a:ln/>
        </p:spPr>
      </p:sp>
      <p:sp>
        <p:nvSpPr>
          <p:cNvPr id="68" name="Shape 66"/>
          <p:cNvSpPr/>
          <p:nvPr/>
        </p:nvSpPr>
        <p:spPr>
          <a:xfrm>
            <a:off x="1965960" y="5998464"/>
            <a:ext cx="64008" cy="91440"/>
          </a:xfrm>
          <a:prstGeom prst="rect">
            <a:avLst/>
          </a:prstGeom>
          <a:solidFill>
            <a:srgbClr val="5FA8E0"/>
          </a:solidFill>
          <a:ln/>
        </p:spPr>
      </p:sp>
      <p:sp>
        <p:nvSpPr>
          <p:cNvPr id="69" name="Shape 67"/>
          <p:cNvSpPr/>
          <p:nvPr/>
        </p:nvSpPr>
        <p:spPr>
          <a:xfrm>
            <a:off x="2112264" y="5998464"/>
            <a:ext cx="64008" cy="91440"/>
          </a:xfrm>
          <a:prstGeom prst="rect">
            <a:avLst/>
          </a:prstGeom>
          <a:solidFill>
            <a:srgbClr val="5FA8E0"/>
          </a:solidFill>
          <a:ln/>
        </p:spPr>
      </p:sp>
      <p:sp>
        <p:nvSpPr>
          <p:cNvPr id="70" name="Shape 68"/>
          <p:cNvSpPr/>
          <p:nvPr/>
        </p:nvSpPr>
        <p:spPr>
          <a:xfrm>
            <a:off x="1965960" y="6291072"/>
            <a:ext cx="64008" cy="91440"/>
          </a:xfrm>
          <a:prstGeom prst="rect">
            <a:avLst/>
          </a:prstGeom>
          <a:solidFill>
            <a:srgbClr val="5FA8E0"/>
          </a:solidFill>
          <a:ln/>
        </p:spPr>
      </p:sp>
      <p:sp>
        <p:nvSpPr>
          <p:cNvPr id="71" name="Shape 69"/>
          <p:cNvSpPr/>
          <p:nvPr/>
        </p:nvSpPr>
        <p:spPr>
          <a:xfrm>
            <a:off x="2258568" y="6291072"/>
            <a:ext cx="64008" cy="91440"/>
          </a:xfrm>
          <a:prstGeom prst="rect">
            <a:avLst/>
          </a:prstGeom>
          <a:solidFill>
            <a:srgbClr val="5FA8E0"/>
          </a:solidFill>
          <a:ln/>
        </p:spPr>
      </p:sp>
      <p:sp>
        <p:nvSpPr>
          <p:cNvPr id="72" name="Shape 70"/>
          <p:cNvSpPr/>
          <p:nvPr/>
        </p:nvSpPr>
        <p:spPr>
          <a:xfrm>
            <a:off x="2112264" y="6583680"/>
            <a:ext cx="64008" cy="91440"/>
          </a:xfrm>
          <a:prstGeom prst="rect">
            <a:avLst/>
          </a:prstGeom>
          <a:solidFill>
            <a:srgbClr val="5FA8E0"/>
          </a:solidFill>
          <a:ln/>
        </p:spPr>
      </p:sp>
      <p:sp>
        <p:nvSpPr>
          <p:cNvPr id="73" name="Shape 71"/>
          <p:cNvSpPr/>
          <p:nvPr/>
        </p:nvSpPr>
        <p:spPr>
          <a:xfrm>
            <a:off x="2258568" y="6583680"/>
            <a:ext cx="64008" cy="91440"/>
          </a:xfrm>
          <a:prstGeom prst="rect">
            <a:avLst/>
          </a:prstGeom>
          <a:solidFill>
            <a:srgbClr val="5FA8E0"/>
          </a:solidFill>
          <a:ln/>
        </p:spPr>
      </p:sp>
      <p:sp>
        <p:nvSpPr>
          <p:cNvPr id="74" name="Shape 72"/>
          <p:cNvSpPr/>
          <p:nvPr/>
        </p:nvSpPr>
        <p:spPr>
          <a:xfrm>
            <a:off x="2377440" y="5212080"/>
            <a:ext cx="411480" cy="1645920"/>
          </a:xfrm>
          <a:prstGeom prst="rect">
            <a:avLst/>
          </a:prstGeom>
          <a:solidFill>
            <a:srgbClr val="24466F"/>
          </a:solidFill>
          <a:ln/>
        </p:spPr>
      </p:sp>
      <p:sp>
        <p:nvSpPr>
          <p:cNvPr id="75" name="Shape 73"/>
          <p:cNvSpPr/>
          <p:nvPr/>
        </p:nvSpPr>
        <p:spPr>
          <a:xfrm>
            <a:off x="2569464" y="5285232"/>
            <a:ext cx="64008" cy="91440"/>
          </a:xfrm>
          <a:prstGeom prst="rect">
            <a:avLst/>
          </a:prstGeom>
          <a:solidFill>
            <a:srgbClr val="5FA8E0"/>
          </a:solidFill>
          <a:ln/>
        </p:spPr>
      </p:sp>
      <p:sp>
        <p:nvSpPr>
          <p:cNvPr id="76" name="Shape 74"/>
          <p:cNvSpPr/>
          <p:nvPr/>
        </p:nvSpPr>
        <p:spPr>
          <a:xfrm>
            <a:off x="2423160" y="5577840"/>
            <a:ext cx="64008" cy="91440"/>
          </a:xfrm>
          <a:prstGeom prst="rect">
            <a:avLst/>
          </a:prstGeom>
          <a:solidFill>
            <a:srgbClr val="5FA8E0"/>
          </a:solidFill>
          <a:ln/>
        </p:spPr>
      </p:sp>
      <p:sp>
        <p:nvSpPr>
          <p:cNvPr id="77" name="Shape 75"/>
          <p:cNvSpPr/>
          <p:nvPr/>
        </p:nvSpPr>
        <p:spPr>
          <a:xfrm>
            <a:off x="2569464" y="5577840"/>
            <a:ext cx="64008" cy="91440"/>
          </a:xfrm>
          <a:prstGeom prst="rect">
            <a:avLst/>
          </a:prstGeom>
          <a:solidFill>
            <a:srgbClr val="5FA8E0"/>
          </a:solidFill>
          <a:ln/>
        </p:spPr>
      </p:sp>
      <p:sp>
        <p:nvSpPr>
          <p:cNvPr id="78" name="Shape 76"/>
          <p:cNvSpPr/>
          <p:nvPr/>
        </p:nvSpPr>
        <p:spPr>
          <a:xfrm>
            <a:off x="2423160" y="5870448"/>
            <a:ext cx="64008" cy="91440"/>
          </a:xfrm>
          <a:prstGeom prst="rect">
            <a:avLst/>
          </a:prstGeom>
          <a:solidFill>
            <a:srgbClr val="5FA8E0"/>
          </a:solidFill>
          <a:ln/>
        </p:spPr>
      </p:sp>
      <p:sp>
        <p:nvSpPr>
          <p:cNvPr id="79" name="Shape 77"/>
          <p:cNvSpPr/>
          <p:nvPr/>
        </p:nvSpPr>
        <p:spPr>
          <a:xfrm>
            <a:off x="2569464" y="6163056"/>
            <a:ext cx="64008" cy="91440"/>
          </a:xfrm>
          <a:prstGeom prst="rect">
            <a:avLst/>
          </a:prstGeom>
          <a:solidFill>
            <a:srgbClr val="5FA8E0"/>
          </a:solidFill>
          <a:ln/>
        </p:spPr>
      </p:sp>
      <p:sp>
        <p:nvSpPr>
          <p:cNvPr id="80" name="Shape 78"/>
          <p:cNvSpPr/>
          <p:nvPr/>
        </p:nvSpPr>
        <p:spPr>
          <a:xfrm>
            <a:off x="2423160" y="6455664"/>
            <a:ext cx="64008" cy="91440"/>
          </a:xfrm>
          <a:prstGeom prst="rect">
            <a:avLst/>
          </a:prstGeom>
          <a:solidFill>
            <a:srgbClr val="5FA8E0"/>
          </a:solidFill>
          <a:ln/>
        </p:spPr>
      </p:sp>
      <p:sp>
        <p:nvSpPr>
          <p:cNvPr id="81" name="Shape 79"/>
          <p:cNvSpPr/>
          <p:nvPr/>
        </p:nvSpPr>
        <p:spPr>
          <a:xfrm>
            <a:off x="2569464" y="6455664"/>
            <a:ext cx="64008" cy="91440"/>
          </a:xfrm>
          <a:prstGeom prst="rect">
            <a:avLst/>
          </a:prstGeom>
          <a:solidFill>
            <a:srgbClr val="5FA8E0"/>
          </a:solidFill>
          <a:ln/>
        </p:spPr>
      </p:sp>
      <p:sp>
        <p:nvSpPr>
          <p:cNvPr id="82" name="Shape 80"/>
          <p:cNvSpPr/>
          <p:nvPr/>
        </p:nvSpPr>
        <p:spPr>
          <a:xfrm>
            <a:off x="9966960" y="5029200"/>
            <a:ext cx="457200" cy="1828800"/>
          </a:xfrm>
          <a:prstGeom prst="rect">
            <a:avLst/>
          </a:prstGeom>
          <a:solidFill>
            <a:srgbClr val="1D3A63"/>
          </a:solidFill>
          <a:ln/>
        </p:spPr>
      </p:sp>
      <p:sp>
        <p:nvSpPr>
          <p:cNvPr id="83" name="Shape 81"/>
          <p:cNvSpPr/>
          <p:nvPr/>
        </p:nvSpPr>
        <p:spPr>
          <a:xfrm>
            <a:off x="10158984" y="5102352"/>
            <a:ext cx="64008" cy="91440"/>
          </a:xfrm>
          <a:prstGeom prst="rect">
            <a:avLst/>
          </a:prstGeom>
          <a:solidFill>
            <a:srgbClr val="5FA8E0"/>
          </a:solidFill>
          <a:ln/>
        </p:spPr>
      </p:sp>
      <p:sp>
        <p:nvSpPr>
          <p:cNvPr id="84" name="Shape 82"/>
          <p:cNvSpPr/>
          <p:nvPr/>
        </p:nvSpPr>
        <p:spPr>
          <a:xfrm>
            <a:off x="10305288" y="5102352"/>
            <a:ext cx="64008" cy="91440"/>
          </a:xfrm>
          <a:prstGeom prst="rect">
            <a:avLst/>
          </a:prstGeom>
          <a:solidFill>
            <a:srgbClr val="5FA8E0"/>
          </a:solidFill>
          <a:ln/>
        </p:spPr>
      </p:sp>
      <p:sp>
        <p:nvSpPr>
          <p:cNvPr id="85" name="Shape 83"/>
          <p:cNvSpPr/>
          <p:nvPr/>
        </p:nvSpPr>
        <p:spPr>
          <a:xfrm>
            <a:off x="10012680" y="5394960"/>
            <a:ext cx="64008" cy="91440"/>
          </a:xfrm>
          <a:prstGeom prst="rect">
            <a:avLst/>
          </a:prstGeom>
          <a:solidFill>
            <a:srgbClr val="5FA8E0"/>
          </a:solidFill>
          <a:ln/>
        </p:spPr>
      </p:sp>
      <p:sp>
        <p:nvSpPr>
          <p:cNvPr id="86" name="Shape 84"/>
          <p:cNvSpPr/>
          <p:nvPr/>
        </p:nvSpPr>
        <p:spPr>
          <a:xfrm>
            <a:off x="10158984" y="5394960"/>
            <a:ext cx="64008" cy="91440"/>
          </a:xfrm>
          <a:prstGeom prst="rect">
            <a:avLst/>
          </a:prstGeom>
          <a:solidFill>
            <a:srgbClr val="5FA8E0"/>
          </a:solidFill>
          <a:ln/>
        </p:spPr>
      </p:sp>
      <p:sp>
        <p:nvSpPr>
          <p:cNvPr id="87" name="Shape 85"/>
          <p:cNvSpPr/>
          <p:nvPr/>
        </p:nvSpPr>
        <p:spPr>
          <a:xfrm>
            <a:off x="10012680" y="5687568"/>
            <a:ext cx="64008" cy="91440"/>
          </a:xfrm>
          <a:prstGeom prst="rect">
            <a:avLst/>
          </a:prstGeom>
          <a:solidFill>
            <a:srgbClr val="5FA8E0"/>
          </a:solidFill>
          <a:ln/>
        </p:spPr>
      </p:sp>
      <p:sp>
        <p:nvSpPr>
          <p:cNvPr id="88" name="Shape 86"/>
          <p:cNvSpPr/>
          <p:nvPr/>
        </p:nvSpPr>
        <p:spPr>
          <a:xfrm>
            <a:off x="10305288" y="5687568"/>
            <a:ext cx="64008" cy="91440"/>
          </a:xfrm>
          <a:prstGeom prst="rect">
            <a:avLst/>
          </a:prstGeom>
          <a:solidFill>
            <a:srgbClr val="5FA8E0"/>
          </a:solidFill>
          <a:ln/>
        </p:spPr>
      </p:sp>
      <p:sp>
        <p:nvSpPr>
          <p:cNvPr id="89" name="Shape 87"/>
          <p:cNvSpPr/>
          <p:nvPr/>
        </p:nvSpPr>
        <p:spPr>
          <a:xfrm>
            <a:off x="10158984" y="5980176"/>
            <a:ext cx="64008" cy="91440"/>
          </a:xfrm>
          <a:prstGeom prst="rect">
            <a:avLst/>
          </a:prstGeom>
          <a:solidFill>
            <a:srgbClr val="5FA8E0"/>
          </a:solidFill>
          <a:ln/>
        </p:spPr>
      </p:sp>
      <p:sp>
        <p:nvSpPr>
          <p:cNvPr id="90" name="Shape 88"/>
          <p:cNvSpPr/>
          <p:nvPr/>
        </p:nvSpPr>
        <p:spPr>
          <a:xfrm>
            <a:off x="10305288" y="5980176"/>
            <a:ext cx="64008" cy="91440"/>
          </a:xfrm>
          <a:prstGeom prst="rect">
            <a:avLst/>
          </a:prstGeom>
          <a:solidFill>
            <a:srgbClr val="5FA8E0"/>
          </a:solidFill>
          <a:ln/>
        </p:spPr>
      </p:sp>
      <p:sp>
        <p:nvSpPr>
          <p:cNvPr id="91" name="Shape 89"/>
          <p:cNvSpPr/>
          <p:nvPr/>
        </p:nvSpPr>
        <p:spPr>
          <a:xfrm>
            <a:off x="10012680" y="6272784"/>
            <a:ext cx="64008" cy="91440"/>
          </a:xfrm>
          <a:prstGeom prst="rect">
            <a:avLst/>
          </a:prstGeom>
          <a:solidFill>
            <a:srgbClr val="5FA8E0"/>
          </a:solidFill>
          <a:ln/>
        </p:spPr>
      </p:sp>
      <p:sp>
        <p:nvSpPr>
          <p:cNvPr id="92" name="Shape 90"/>
          <p:cNvSpPr/>
          <p:nvPr/>
        </p:nvSpPr>
        <p:spPr>
          <a:xfrm>
            <a:off x="10158984" y="6272784"/>
            <a:ext cx="64008" cy="91440"/>
          </a:xfrm>
          <a:prstGeom prst="rect">
            <a:avLst/>
          </a:prstGeom>
          <a:solidFill>
            <a:srgbClr val="5FA8E0"/>
          </a:solidFill>
          <a:ln/>
        </p:spPr>
      </p:sp>
      <p:sp>
        <p:nvSpPr>
          <p:cNvPr id="93" name="Shape 91"/>
          <p:cNvSpPr/>
          <p:nvPr/>
        </p:nvSpPr>
        <p:spPr>
          <a:xfrm>
            <a:off x="10012680" y="6565392"/>
            <a:ext cx="64008" cy="91440"/>
          </a:xfrm>
          <a:prstGeom prst="rect">
            <a:avLst/>
          </a:prstGeom>
          <a:solidFill>
            <a:srgbClr val="5FA8E0"/>
          </a:solidFill>
          <a:ln/>
        </p:spPr>
      </p:sp>
      <p:sp>
        <p:nvSpPr>
          <p:cNvPr id="94" name="Shape 92"/>
          <p:cNvSpPr/>
          <p:nvPr/>
        </p:nvSpPr>
        <p:spPr>
          <a:xfrm>
            <a:off x="10305288" y="6565392"/>
            <a:ext cx="64008" cy="91440"/>
          </a:xfrm>
          <a:prstGeom prst="rect">
            <a:avLst/>
          </a:prstGeom>
          <a:solidFill>
            <a:srgbClr val="5FA8E0"/>
          </a:solidFill>
          <a:ln/>
        </p:spPr>
      </p:sp>
      <p:sp>
        <p:nvSpPr>
          <p:cNvPr id="95" name="Shape 93"/>
          <p:cNvSpPr/>
          <p:nvPr/>
        </p:nvSpPr>
        <p:spPr>
          <a:xfrm>
            <a:off x="10424160" y="4389120"/>
            <a:ext cx="502920" cy="2468880"/>
          </a:xfrm>
          <a:prstGeom prst="rect">
            <a:avLst/>
          </a:prstGeom>
          <a:solidFill>
            <a:srgbClr val="24466F"/>
          </a:solidFill>
          <a:ln/>
        </p:spPr>
      </p:sp>
      <p:sp>
        <p:nvSpPr>
          <p:cNvPr id="96" name="Shape 94"/>
          <p:cNvSpPr/>
          <p:nvPr/>
        </p:nvSpPr>
        <p:spPr>
          <a:xfrm>
            <a:off x="10616184" y="4462272"/>
            <a:ext cx="64008" cy="91440"/>
          </a:xfrm>
          <a:prstGeom prst="rect">
            <a:avLst/>
          </a:prstGeom>
          <a:solidFill>
            <a:srgbClr val="5FA8E0"/>
          </a:solidFill>
          <a:ln/>
        </p:spPr>
      </p:sp>
      <p:sp>
        <p:nvSpPr>
          <p:cNvPr id="97" name="Shape 95"/>
          <p:cNvSpPr/>
          <p:nvPr/>
        </p:nvSpPr>
        <p:spPr>
          <a:xfrm>
            <a:off x="10762488" y="4462272"/>
            <a:ext cx="64008" cy="91440"/>
          </a:xfrm>
          <a:prstGeom prst="rect">
            <a:avLst/>
          </a:prstGeom>
          <a:solidFill>
            <a:srgbClr val="5FA8E0"/>
          </a:solidFill>
          <a:ln/>
        </p:spPr>
      </p:sp>
      <p:sp>
        <p:nvSpPr>
          <p:cNvPr id="98" name="Shape 96"/>
          <p:cNvSpPr/>
          <p:nvPr/>
        </p:nvSpPr>
        <p:spPr>
          <a:xfrm>
            <a:off x="10469880" y="4754880"/>
            <a:ext cx="64008" cy="91440"/>
          </a:xfrm>
          <a:prstGeom prst="rect">
            <a:avLst/>
          </a:prstGeom>
          <a:solidFill>
            <a:srgbClr val="5FA8E0"/>
          </a:solidFill>
          <a:ln/>
        </p:spPr>
      </p:sp>
      <p:sp>
        <p:nvSpPr>
          <p:cNvPr id="99" name="Shape 97"/>
          <p:cNvSpPr/>
          <p:nvPr/>
        </p:nvSpPr>
        <p:spPr>
          <a:xfrm>
            <a:off x="10616184" y="4754880"/>
            <a:ext cx="64008" cy="91440"/>
          </a:xfrm>
          <a:prstGeom prst="rect">
            <a:avLst/>
          </a:prstGeom>
          <a:solidFill>
            <a:srgbClr val="5FA8E0"/>
          </a:solidFill>
          <a:ln/>
        </p:spPr>
      </p:sp>
      <p:sp>
        <p:nvSpPr>
          <p:cNvPr id="100" name="Shape 98"/>
          <p:cNvSpPr/>
          <p:nvPr/>
        </p:nvSpPr>
        <p:spPr>
          <a:xfrm>
            <a:off x="10469880" y="5047488"/>
            <a:ext cx="64008" cy="91440"/>
          </a:xfrm>
          <a:prstGeom prst="rect">
            <a:avLst/>
          </a:prstGeom>
          <a:solidFill>
            <a:srgbClr val="5FA8E0"/>
          </a:solidFill>
          <a:ln/>
        </p:spPr>
      </p:sp>
      <p:sp>
        <p:nvSpPr>
          <p:cNvPr id="101" name="Shape 99"/>
          <p:cNvSpPr/>
          <p:nvPr/>
        </p:nvSpPr>
        <p:spPr>
          <a:xfrm>
            <a:off x="10762488" y="5047488"/>
            <a:ext cx="64008" cy="91440"/>
          </a:xfrm>
          <a:prstGeom prst="rect">
            <a:avLst/>
          </a:prstGeom>
          <a:solidFill>
            <a:srgbClr val="5FA8E0"/>
          </a:solidFill>
          <a:ln/>
        </p:spPr>
      </p:sp>
      <p:sp>
        <p:nvSpPr>
          <p:cNvPr id="102" name="Shape 100"/>
          <p:cNvSpPr/>
          <p:nvPr/>
        </p:nvSpPr>
        <p:spPr>
          <a:xfrm>
            <a:off x="10616184" y="5340096"/>
            <a:ext cx="64008" cy="91440"/>
          </a:xfrm>
          <a:prstGeom prst="rect">
            <a:avLst/>
          </a:prstGeom>
          <a:solidFill>
            <a:srgbClr val="5FA8E0"/>
          </a:solidFill>
          <a:ln/>
        </p:spPr>
      </p:sp>
      <p:sp>
        <p:nvSpPr>
          <p:cNvPr id="103" name="Shape 101"/>
          <p:cNvSpPr/>
          <p:nvPr/>
        </p:nvSpPr>
        <p:spPr>
          <a:xfrm>
            <a:off x="10762488" y="5340096"/>
            <a:ext cx="64008" cy="91440"/>
          </a:xfrm>
          <a:prstGeom prst="rect">
            <a:avLst/>
          </a:prstGeom>
          <a:solidFill>
            <a:srgbClr val="5FA8E0"/>
          </a:solidFill>
          <a:ln/>
        </p:spPr>
      </p:sp>
      <p:sp>
        <p:nvSpPr>
          <p:cNvPr id="104" name="Shape 102"/>
          <p:cNvSpPr/>
          <p:nvPr/>
        </p:nvSpPr>
        <p:spPr>
          <a:xfrm>
            <a:off x="10469880" y="5632704"/>
            <a:ext cx="64008" cy="91440"/>
          </a:xfrm>
          <a:prstGeom prst="rect">
            <a:avLst/>
          </a:prstGeom>
          <a:solidFill>
            <a:srgbClr val="5FA8E0"/>
          </a:solidFill>
          <a:ln/>
        </p:spPr>
      </p:sp>
      <p:sp>
        <p:nvSpPr>
          <p:cNvPr id="105" name="Shape 103"/>
          <p:cNvSpPr/>
          <p:nvPr/>
        </p:nvSpPr>
        <p:spPr>
          <a:xfrm>
            <a:off x="10616184" y="5632704"/>
            <a:ext cx="64008" cy="91440"/>
          </a:xfrm>
          <a:prstGeom prst="rect">
            <a:avLst/>
          </a:prstGeom>
          <a:solidFill>
            <a:srgbClr val="5FA8E0"/>
          </a:solidFill>
          <a:ln/>
        </p:spPr>
      </p:sp>
      <p:sp>
        <p:nvSpPr>
          <p:cNvPr id="106" name="Shape 104"/>
          <p:cNvSpPr/>
          <p:nvPr/>
        </p:nvSpPr>
        <p:spPr>
          <a:xfrm>
            <a:off x="10469880" y="5925312"/>
            <a:ext cx="64008" cy="91440"/>
          </a:xfrm>
          <a:prstGeom prst="rect">
            <a:avLst/>
          </a:prstGeom>
          <a:solidFill>
            <a:srgbClr val="5FA8E0"/>
          </a:solidFill>
          <a:ln/>
        </p:spPr>
      </p:sp>
      <p:sp>
        <p:nvSpPr>
          <p:cNvPr id="107" name="Shape 105"/>
          <p:cNvSpPr/>
          <p:nvPr/>
        </p:nvSpPr>
        <p:spPr>
          <a:xfrm>
            <a:off x="10762488" y="5925312"/>
            <a:ext cx="64008" cy="91440"/>
          </a:xfrm>
          <a:prstGeom prst="rect">
            <a:avLst/>
          </a:prstGeom>
          <a:solidFill>
            <a:srgbClr val="5FA8E0"/>
          </a:solidFill>
          <a:ln/>
        </p:spPr>
      </p:sp>
      <p:sp>
        <p:nvSpPr>
          <p:cNvPr id="108" name="Shape 106"/>
          <p:cNvSpPr/>
          <p:nvPr/>
        </p:nvSpPr>
        <p:spPr>
          <a:xfrm>
            <a:off x="10616184" y="6217920"/>
            <a:ext cx="64008" cy="91440"/>
          </a:xfrm>
          <a:prstGeom prst="rect">
            <a:avLst/>
          </a:prstGeom>
          <a:solidFill>
            <a:srgbClr val="5FA8E0"/>
          </a:solidFill>
          <a:ln/>
        </p:spPr>
      </p:sp>
      <p:sp>
        <p:nvSpPr>
          <p:cNvPr id="109" name="Shape 107"/>
          <p:cNvSpPr/>
          <p:nvPr/>
        </p:nvSpPr>
        <p:spPr>
          <a:xfrm>
            <a:off x="10762488" y="6217920"/>
            <a:ext cx="64008" cy="91440"/>
          </a:xfrm>
          <a:prstGeom prst="rect">
            <a:avLst/>
          </a:prstGeom>
          <a:solidFill>
            <a:srgbClr val="5FA8E0"/>
          </a:solidFill>
          <a:ln/>
        </p:spPr>
      </p:sp>
      <p:sp>
        <p:nvSpPr>
          <p:cNvPr id="110" name="Shape 108"/>
          <p:cNvSpPr/>
          <p:nvPr/>
        </p:nvSpPr>
        <p:spPr>
          <a:xfrm>
            <a:off x="10469880" y="6510528"/>
            <a:ext cx="64008" cy="91440"/>
          </a:xfrm>
          <a:prstGeom prst="rect">
            <a:avLst/>
          </a:prstGeom>
          <a:solidFill>
            <a:srgbClr val="5FA8E0"/>
          </a:solidFill>
          <a:ln/>
        </p:spPr>
      </p:sp>
      <p:sp>
        <p:nvSpPr>
          <p:cNvPr id="111" name="Shape 109"/>
          <p:cNvSpPr/>
          <p:nvPr/>
        </p:nvSpPr>
        <p:spPr>
          <a:xfrm>
            <a:off x="10616184" y="6510528"/>
            <a:ext cx="64008" cy="91440"/>
          </a:xfrm>
          <a:prstGeom prst="rect">
            <a:avLst/>
          </a:prstGeom>
          <a:solidFill>
            <a:srgbClr val="5FA8E0"/>
          </a:solidFill>
          <a:ln/>
        </p:spPr>
      </p:sp>
      <p:sp>
        <p:nvSpPr>
          <p:cNvPr id="112" name="Shape 110"/>
          <p:cNvSpPr/>
          <p:nvPr/>
        </p:nvSpPr>
        <p:spPr>
          <a:xfrm>
            <a:off x="10927080" y="4846320"/>
            <a:ext cx="411480" cy="2011680"/>
          </a:xfrm>
          <a:prstGeom prst="rect">
            <a:avLst/>
          </a:prstGeom>
          <a:solidFill>
            <a:srgbClr val="1D3A63"/>
          </a:solidFill>
          <a:ln/>
        </p:spPr>
      </p:sp>
      <p:sp>
        <p:nvSpPr>
          <p:cNvPr id="113" name="Shape 111"/>
          <p:cNvSpPr/>
          <p:nvPr/>
        </p:nvSpPr>
        <p:spPr>
          <a:xfrm>
            <a:off x="11119104" y="4919472"/>
            <a:ext cx="64008" cy="91440"/>
          </a:xfrm>
          <a:prstGeom prst="rect">
            <a:avLst/>
          </a:prstGeom>
          <a:solidFill>
            <a:srgbClr val="5FA8E0"/>
          </a:solidFill>
          <a:ln/>
        </p:spPr>
      </p:sp>
      <p:sp>
        <p:nvSpPr>
          <p:cNvPr id="114" name="Shape 112"/>
          <p:cNvSpPr/>
          <p:nvPr/>
        </p:nvSpPr>
        <p:spPr>
          <a:xfrm>
            <a:off x="10972800" y="5212080"/>
            <a:ext cx="64008" cy="91440"/>
          </a:xfrm>
          <a:prstGeom prst="rect">
            <a:avLst/>
          </a:prstGeom>
          <a:solidFill>
            <a:srgbClr val="5FA8E0"/>
          </a:solidFill>
          <a:ln/>
        </p:spPr>
      </p:sp>
      <p:sp>
        <p:nvSpPr>
          <p:cNvPr id="115" name="Shape 113"/>
          <p:cNvSpPr/>
          <p:nvPr/>
        </p:nvSpPr>
        <p:spPr>
          <a:xfrm>
            <a:off x="11119104" y="5212080"/>
            <a:ext cx="64008" cy="91440"/>
          </a:xfrm>
          <a:prstGeom prst="rect">
            <a:avLst/>
          </a:prstGeom>
          <a:solidFill>
            <a:srgbClr val="5FA8E0"/>
          </a:solidFill>
          <a:ln/>
        </p:spPr>
      </p:sp>
      <p:sp>
        <p:nvSpPr>
          <p:cNvPr id="116" name="Shape 114"/>
          <p:cNvSpPr/>
          <p:nvPr/>
        </p:nvSpPr>
        <p:spPr>
          <a:xfrm>
            <a:off x="10972800" y="5504688"/>
            <a:ext cx="64008" cy="91440"/>
          </a:xfrm>
          <a:prstGeom prst="rect">
            <a:avLst/>
          </a:prstGeom>
          <a:solidFill>
            <a:srgbClr val="5FA8E0"/>
          </a:solidFill>
          <a:ln/>
        </p:spPr>
      </p:sp>
      <p:sp>
        <p:nvSpPr>
          <p:cNvPr id="117" name="Shape 115"/>
          <p:cNvSpPr/>
          <p:nvPr/>
        </p:nvSpPr>
        <p:spPr>
          <a:xfrm>
            <a:off x="11119104" y="5797296"/>
            <a:ext cx="64008" cy="91440"/>
          </a:xfrm>
          <a:prstGeom prst="rect">
            <a:avLst/>
          </a:prstGeom>
          <a:solidFill>
            <a:srgbClr val="5FA8E0"/>
          </a:solidFill>
          <a:ln/>
        </p:spPr>
      </p:sp>
      <p:sp>
        <p:nvSpPr>
          <p:cNvPr id="118" name="Shape 116"/>
          <p:cNvSpPr/>
          <p:nvPr/>
        </p:nvSpPr>
        <p:spPr>
          <a:xfrm>
            <a:off x="10972800" y="6089904"/>
            <a:ext cx="64008" cy="91440"/>
          </a:xfrm>
          <a:prstGeom prst="rect">
            <a:avLst/>
          </a:prstGeom>
          <a:solidFill>
            <a:srgbClr val="5FA8E0"/>
          </a:solidFill>
          <a:ln/>
        </p:spPr>
      </p:sp>
      <p:sp>
        <p:nvSpPr>
          <p:cNvPr id="119" name="Shape 117"/>
          <p:cNvSpPr/>
          <p:nvPr/>
        </p:nvSpPr>
        <p:spPr>
          <a:xfrm>
            <a:off x="11119104" y="6089904"/>
            <a:ext cx="64008" cy="91440"/>
          </a:xfrm>
          <a:prstGeom prst="rect">
            <a:avLst/>
          </a:prstGeom>
          <a:solidFill>
            <a:srgbClr val="5FA8E0"/>
          </a:solidFill>
          <a:ln/>
        </p:spPr>
      </p:sp>
      <p:sp>
        <p:nvSpPr>
          <p:cNvPr id="120" name="Shape 118"/>
          <p:cNvSpPr/>
          <p:nvPr/>
        </p:nvSpPr>
        <p:spPr>
          <a:xfrm>
            <a:off x="10972800" y="6382512"/>
            <a:ext cx="64008" cy="91440"/>
          </a:xfrm>
          <a:prstGeom prst="rect">
            <a:avLst/>
          </a:prstGeom>
          <a:solidFill>
            <a:srgbClr val="5FA8E0"/>
          </a:solidFill>
          <a:ln/>
        </p:spPr>
      </p:sp>
      <p:sp>
        <p:nvSpPr>
          <p:cNvPr id="121" name="Shape 119"/>
          <p:cNvSpPr/>
          <p:nvPr/>
        </p:nvSpPr>
        <p:spPr>
          <a:xfrm>
            <a:off x="11338560" y="5394960"/>
            <a:ext cx="457200" cy="1463040"/>
          </a:xfrm>
          <a:prstGeom prst="rect">
            <a:avLst/>
          </a:prstGeom>
          <a:solidFill>
            <a:srgbClr val="24466F"/>
          </a:solidFill>
          <a:ln/>
        </p:spPr>
      </p:sp>
      <p:sp>
        <p:nvSpPr>
          <p:cNvPr id="122" name="Shape 120"/>
          <p:cNvSpPr/>
          <p:nvPr/>
        </p:nvSpPr>
        <p:spPr>
          <a:xfrm>
            <a:off x="11530584" y="5468112"/>
            <a:ext cx="64008" cy="91440"/>
          </a:xfrm>
          <a:prstGeom prst="rect">
            <a:avLst/>
          </a:prstGeom>
          <a:solidFill>
            <a:srgbClr val="5FA8E0"/>
          </a:solidFill>
          <a:ln/>
        </p:spPr>
      </p:sp>
      <p:sp>
        <p:nvSpPr>
          <p:cNvPr id="123" name="Shape 121"/>
          <p:cNvSpPr/>
          <p:nvPr/>
        </p:nvSpPr>
        <p:spPr>
          <a:xfrm>
            <a:off x="11676888" y="5468112"/>
            <a:ext cx="64008" cy="91440"/>
          </a:xfrm>
          <a:prstGeom prst="rect">
            <a:avLst/>
          </a:prstGeom>
          <a:solidFill>
            <a:srgbClr val="5FA8E0"/>
          </a:solidFill>
          <a:ln/>
        </p:spPr>
      </p:sp>
      <p:sp>
        <p:nvSpPr>
          <p:cNvPr id="124" name="Shape 122"/>
          <p:cNvSpPr/>
          <p:nvPr/>
        </p:nvSpPr>
        <p:spPr>
          <a:xfrm>
            <a:off x="11384280" y="5760720"/>
            <a:ext cx="64008" cy="91440"/>
          </a:xfrm>
          <a:prstGeom prst="rect">
            <a:avLst/>
          </a:prstGeom>
          <a:solidFill>
            <a:srgbClr val="5FA8E0"/>
          </a:solidFill>
          <a:ln/>
        </p:spPr>
      </p:sp>
      <p:sp>
        <p:nvSpPr>
          <p:cNvPr id="125" name="Shape 123"/>
          <p:cNvSpPr/>
          <p:nvPr/>
        </p:nvSpPr>
        <p:spPr>
          <a:xfrm>
            <a:off x="11530584" y="5760720"/>
            <a:ext cx="64008" cy="91440"/>
          </a:xfrm>
          <a:prstGeom prst="rect">
            <a:avLst/>
          </a:prstGeom>
          <a:solidFill>
            <a:srgbClr val="5FA8E0"/>
          </a:solidFill>
          <a:ln/>
        </p:spPr>
      </p:sp>
      <p:sp>
        <p:nvSpPr>
          <p:cNvPr id="126" name="Shape 124"/>
          <p:cNvSpPr/>
          <p:nvPr/>
        </p:nvSpPr>
        <p:spPr>
          <a:xfrm>
            <a:off x="11384280" y="6053328"/>
            <a:ext cx="64008" cy="91440"/>
          </a:xfrm>
          <a:prstGeom prst="rect">
            <a:avLst/>
          </a:prstGeom>
          <a:solidFill>
            <a:srgbClr val="5FA8E0"/>
          </a:solidFill>
          <a:ln/>
        </p:spPr>
      </p:sp>
      <p:sp>
        <p:nvSpPr>
          <p:cNvPr id="127" name="Shape 125"/>
          <p:cNvSpPr/>
          <p:nvPr/>
        </p:nvSpPr>
        <p:spPr>
          <a:xfrm>
            <a:off x="11676888" y="6053328"/>
            <a:ext cx="64008" cy="91440"/>
          </a:xfrm>
          <a:prstGeom prst="rect">
            <a:avLst/>
          </a:prstGeom>
          <a:solidFill>
            <a:srgbClr val="5FA8E0"/>
          </a:solidFill>
          <a:ln/>
        </p:spPr>
      </p:sp>
      <p:sp>
        <p:nvSpPr>
          <p:cNvPr id="128" name="Shape 126"/>
          <p:cNvSpPr/>
          <p:nvPr/>
        </p:nvSpPr>
        <p:spPr>
          <a:xfrm>
            <a:off x="11530584" y="6345936"/>
            <a:ext cx="64008" cy="91440"/>
          </a:xfrm>
          <a:prstGeom prst="rect">
            <a:avLst/>
          </a:prstGeom>
          <a:solidFill>
            <a:srgbClr val="5FA8E0"/>
          </a:solidFill>
          <a:ln/>
        </p:spPr>
      </p:sp>
      <p:sp>
        <p:nvSpPr>
          <p:cNvPr id="129" name="Shape 127"/>
          <p:cNvSpPr/>
          <p:nvPr/>
        </p:nvSpPr>
        <p:spPr>
          <a:xfrm>
            <a:off x="11676888" y="6345936"/>
            <a:ext cx="64008" cy="91440"/>
          </a:xfrm>
          <a:prstGeom prst="rect">
            <a:avLst/>
          </a:prstGeom>
          <a:solidFill>
            <a:srgbClr val="5FA8E0"/>
          </a:solidFill>
          <a:ln/>
        </p:spPr>
      </p:sp>
      <p:sp>
        <p:nvSpPr>
          <p:cNvPr id="130" name="Shape 128"/>
          <p:cNvSpPr/>
          <p:nvPr/>
        </p:nvSpPr>
        <p:spPr>
          <a:xfrm>
            <a:off x="11384280" y="6638544"/>
            <a:ext cx="64008" cy="91440"/>
          </a:xfrm>
          <a:prstGeom prst="rect">
            <a:avLst/>
          </a:prstGeom>
          <a:solidFill>
            <a:srgbClr val="5FA8E0"/>
          </a:solidFill>
          <a:ln/>
        </p:spPr>
      </p:sp>
      <p:sp>
        <p:nvSpPr>
          <p:cNvPr id="131" name="Shape 129"/>
          <p:cNvSpPr/>
          <p:nvPr/>
        </p:nvSpPr>
        <p:spPr>
          <a:xfrm>
            <a:off x="11530584" y="6638544"/>
            <a:ext cx="64008" cy="91440"/>
          </a:xfrm>
          <a:prstGeom prst="rect">
            <a:avLst/>
          </a:prstGeom>
          <a:solidFill>
            <a:srgbClr val="5FA8E0"/>
          </a:solidFill>
          <a:ln/>
        </p:spPr>
      </p:sp>
      <p:sp>
        <p:nvSpPr>
          <p:cNvPr id="132" name="Shape 130"/>
          <p:cNvSpPr/>
          <p:nvPr/>
        </p:nvSpPr>
        <p:spPr>
          <a:xfrm>
            <a:off x="11795760" y="4572000"/>
            <a:ext cx="393192" cy="2286000"/>
          </a:xfrm>
          <a:prstGeom prst="rect">
            <a:avLst/>
          </a:prstGeom>
          <a:solidFill>
            <a:srgbClr val="1D3A63"/>
          </a:solidFill>
          <a:ln/>
        </p:spPr>
      </p:sp>
      <p:sp>
        <p:nvSpPr>
          <p:cNvPr id="133" name="Shape 131"/>
          <p:cNvSpPr/>
          <p:nvPr/>
        </p:nvSpPr>
        <p:spPr>
          <a:xfrm>
            <a:off x="11987784" y="4645152"/>
            <a:ext cx="64008" cy="91440"/>
          </a:xfrm>
          <a:prstGeom prst="rect">
            <a:avLst/>
          </a:prstGeom>
          <a:solidFill>
            <a:srgbClr val="5FA8E0"/>
          </a:solidFill>
          <a:ln/>
        </p:spPr>
      </p:sp>
      <p:sp>
        <p:nvSpPr>
          <p:cNvPr id="134" name="Shape 132"/>
          <p:cNvSpPr/>
          <p:nvPr/>
        </p:nvSpPr>
        <p:spPr>
          <a:xfrm>
            <a:off x="11841480" y="4937760"/>
            <a:ext cx="64008" cy="91440"/>
          </a:xfrm>
          <a:prstGeom prst="rect">
            <a:avLst/>
          </a:prstGeom>
          <a:solidFill>
            <a:srgbClr val="5FA8E0"/>
          </a:solidFill>
          <a:ln/>
        </p:spPr>
      </p:sp>
      <p:sp>
        <p:nvSpPr>
          <p:cNvPr id="135" name="Shape 133"/>
          <p:cNvSpPr/>
          <p:nvPr/>
        </p:nvSpPr>
        <p:spPr>
          <a:xfrm>
            <a:off x="11987784" y="4937760"/>
            <a:ext cx="64008" cy="91440"/>
          </a:xfrm>
          <a:prstGeom prst="rect">
            <a:avLst/>
          </a:prstGeom>
          <a:solidFill>
            <a:srgbClr val="5FA8E0"/>
          </a:solidFill>
          <a:ln/>
        </p:spPr>
      </p:sp>
      <p:sp>
        <p:nvSpPr>
          <p:cNvPr id="136" name="Shape 134"/>
          <p:cNvSpPr/>
          <p:nvPr/>
        </p:nvSpPr>
        <p:spPr>
          <a:xfrm>
            <a:off x="11841480" y="5230368"/>
            <a:ext cx="64008" cy="91440"/>
          </a:xfrm>
          <a:prstGeom prst="rect">
            <a:avLst/>
          </a:prstGeom>
          <a:solidFill>
            <a:srgbClr val="5FA8E0"/>
          </a:solidFill>
          <a:ln/>
        </p:spPr>
      </p:sp>
      <p:sp>
        <p:nvSpPr>
          <p:cNvPr id="137" name="Shape 135"/>
          <p:cNvSpPr/>
          <p:nvPr/>
        </p:nvSpPr>
        <p:spPr>
          <a:xfrm>
            <a:off x="11987784" y="5522976"/>
            <a:ext cx="64008" cy="91440"/>
          </a:xfrm>
          <a:prstGeom prst="rect">
            <a:avLst/>
          </a:prstGeom>
          <a:solidFill>
            <a:srgbClr val="5FA8E0"/>
          </a:solidFill>
          <a:ln/>
        </p:spPr>
      </p:sp>
      <p:sp>
        <p:nvSpPr>
          <p:cNvPr id="138" name="Shape 136"/>
          <p:cNvSpPr/>
          <p:nvPr/>
        </p:nvSpPr>
        <p:spPr>
          <a:xfrm>
            <a:off x="11841480" y="5815584"/>
            <a:ext cx="64008" cy="91440"/>
          </a:xfrm>
          <a:prstGeom prst="rect">
            <a:avLst/>
          </a:prstGeom>
          <a:solidFill>
            <a:srgbClr val="5FA8E0"/>
          </a:solidFill>
          <a:ln/>
        </p:spPr>
      </p:sp>
      <p:sp>
        <p:nvSpPr>
          <p:cNvPr id="139" name="Shape 137"/>
          <p:cNvSpPr/>
          <p:nvPr/>
        </p:nvSpPr>
        <p:spPr>
          <a:xfrm>
            <a:off x="11987784" y="5815584"/>
            <a:ext cx="64008" cy="91440"/>
          </a:xfrm>
          <a:prstGeom prst="rect">
            <a:avLst/>
          </a:prstGeom>
          <a:solidFill>
            <a:srgbClr val="5FA8E0"/>
          </a:solidFill>
          <a:ln/>
        </p:spPr>
      </p:sp>
      <p:sp>
        <p:nvSpPr>
          <p:cNvPr id="140" name="Shape 138"/>
          <p:cNvSpPr/>
          <p:nvPr/>
        </p:nvSpPr>
        <p:spPr>
          <a:xfrm>
            <a:off x="11841480" y="6108192"/>
            <a:ext cx="64008" cy="91440"/>
          </a:xfrm>
          <a:prstGeom prst="rect">
            <a:avLst/>
          </a:prstGeom>
          <a:solidFill>
            <a:srgbClr val="5FA8E0"/>
          </a:solidFill>
          <a:ln/>
        </p:spPr>
      </p:sp>
      <p:sp>
        <p:nvSpPr>
          <p:cNvPr id="141" name="Shape 139"/>
          <p:cNvSpPr/>
          <p:nvPr/>
        </p:nvSpPr>
        <p:spPr>
          <a:xfrm>
            <a:off x="11987784" y="6400800"/>
            <a:ext cx="64008" cy="91440"/>
          </a:xfrm>
          <a:prstGeom prst="rect">
            <a:avLst/>
          </a:prstGeom>
          <a:solidFill>
            <a:srgbClr val="5FA8E0"/>
          </a:solidFill>
          <a:ln/>
        </p:spPr>
      </p:sp>
      <p:sp>
        <p:nvSpPr>
          <p:cNvPr id="142" name="Shape 140"/>
          <p:cNvSpPr/>
          <p:nvPr/>
        </p:nvSpPr>
        <p:spPr>
          <a:xfrm>
            <a:off x="0" y="6766560"/>
            <a:ext cx="12188952" cy="91440"/>
          </a:xfrm>
          <a:prstGeom prst="rect">
            <a:avLst/>
          </a:prstGeom>
          <a:solidFill>
            <a:srgbClr val="1D3A63"/>
          </a:solidFill>
          <a:ln/>
        </p:spPr>
      </p:sp>
      <p:sp>
        <p:nvSpPr>
          <p:cNvPr id="143" name="Shape 141"/>
          <p:cNvSpPr/>
          <p:nvPr/>
        </p:nvSpPr>
        <p:spPr>
          <a:xfrm>
            <a:off x="9921240" y="685800"/>
            <a:ext cx="1371600" cy="1371600"/>
          </a:xfrm>
          <a:prstGeom prst="ellipse">
            <a:avLst/>
          </a:prstGeom>
          <a:solidFill>
            <a:srgbClr val="1D3A63"/>
          </a:solidFill>
          <a:ln/>
        </p:spPr>
      </p:sp>
      <p:pic>
        <p:nvPicPr>
          <p:cNvPr id="144" name="Image 0" descr="/home/claude/cv_smart_cities/icons/eye.png"/>
          <p:cNvPicPr>
            <a:picLocks noChangeAspect="1"/>
          </p:cNvPicPr>
          <p:nvPr/>
        </p:nvPicPr>
        <p:blipFill>
          <a:blip r:embed="rId3"/>
          <a:stretch>
            <a:fillRect/>
          </a:stretch>
        </p:blipFill>
        <p:spPr>
          <a:xfrm>
            <a:off x="10264140" y="1028700"/>
            <a:ext cx="685800" cy="685800"/>
          </a:xfrm>
          <a:prstGeom prst="rect">
            <a:avLst/>
          </a:prstGeom>
        </p:spPr>
      </p:pic>
      <p:sp>
        <p:nvSpPr>
          <p:cNvPr id="145" name="Shape 142"/>
          <p:cNvSpPr/>
          <p:nvPr/>
        </p:nvSpPr>
        <p:spPr>
          <a:xfrm>
            <a:off x="9738360" y="502920"/>
            <a:ext cx="1737360" cy="1737360"/>
          </a:xfrm>
          <a:prstGeom prst="ellipse">
            <a:avLst/>
          </a:prstGeom>
          <a:ln w="19050">
            <a:solidFill>
              <a:srgbClr val="17C3B2"/>
            </a:solidFill>
            <a:prstDash val="dash"/>
          </a:ln>
        </p:spPr>
      </p:sp>
      <p:sp>
        <p:nvSpPr>
          <p:cNvPr id="147" name="Text 144"/>
          <p:cNvSpPr/>
          <p:nvPr/>
        </p:nvSpPr>
        <p:spPr>
          <a:xfrm>
            <a:off x="580644" y="822960"/>
            <a:ext cx="9326880" cy="1645920"/>
          </a:xfrm>
          <a:prstGeom prst="rect">
            <a:avLst/>
          </a:prstGeom>
          <a:noFill/>
          <a:ln/>
        </p:spPr>
        <p:txBody>
          <a:bodyPr wrap="square"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Computer Vision Applications</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in Smart Cities</a:t>
            </a:r>
            <a:endParaRPr lang="en-US" sz="4200" dirty="0"/>
          </a:p>
        </p:txBody>
      </p:sp>
      <p:sp>
        <p:nvSpPr>
          <p:cNvPr id="149" name="Shape 146"/>
          <p:cNvSpPr/>
          <p:nvPr/>
        </p:nvSpPr>
        <p:spPr>
          <a:xfrm>
            <a:off x="704088" y="2559518"/>
            <a:ext cx="2011680" cy="0"/>
          </a:xfrm>
          <a:prstGeom prst="line">
            <a:avLst/>
          </a:prstGeom>
          <a:noFill/>
          <a:ln w="25400">
            <a:solidFill>
              <a:srgbClr val="17C3B2"/>
            </a:solidFill>
            <a:prstDash val="solid"/>
          </a:ln>
        </p:spPr>
        <p:txBody>
          <a:bodyPr/>
          <a:lstStyle/>
          <a:p>
            <a:endParaRPr lang="en-IN" dirty="0"/>
          </a:p>
        </p:txBody>
      </p:sp>
      <p:sp>
        <p:nvSpPr>
          <p:cNvPr id="150" name="Text 147"/>
          <p:cNvSpPr/>
          <p:nvPr/>
        </p:nvSpPr>
        <p:spPr>
          <a:xfrm>
            <a:off x="615215" y="2696678"/>
            <a:ext cx="5486400" cy="320040"/>
          </a:xfrm>
          <a:prstGeom prst="rect">
            <a:avLst/>
          </a:prstGeom>
          <a:noFill/>
          <a:ln/>
        </p:spPr>
        <p:txBody>
          <a:bodyPr wrap="square" rtlCol="0" anchor="ctr"/>
          <a:lstStyle/>
          <a:p>
            <a:pPr marL="0" indent="0">
              <a:buNone/>
            </a:pPr>
            <a:r>
              <a:rPr lang="en-US" sz="1400" b="1" dirty="0">
                <a:solidFill>
                  <a:srgbClr val="8FA6C4"/>
                </a:solidFill>
                <a:latin typeface="Calibri" pitchFamily="34" charset="0"/>
                <a:ea typeface="Calibri" pitchFamily="34" charset="-122"/>
                <a:cs typeface="Calibri" pitchFamily="34" charset="-120"/>
              </a:rPr>
              <a:t>Presented by: </a:t>
            </a:r>
            <a:r>
              <a:rPr lang="en-US" sz="1400" b="1" dirty="0">
                <a:solidFill>
                  <a:srgbClr val="FFFFFF"/>
                </a:solidFill>
                <a:latin typeface="Calibri" pitchFamily="34" charset="0"/>
                <a:ea typeface="Calibri" pitchFamily="34" charset="-122"/>
                <a:cs typeface="Calibri" pitchFamily="34" charset="-120"/>
              </a:rPr>
              <a:t>KAVIYA V</a:t>
            </a:r>
            <a:endParaRPr lang="en-US" sz="1400" dirty="0"/>
          </a:p>
        </p:txBody>
      </p:sp>
      <p:sp>
        <p:nvSpPr>
          <p:cNvPr id="151" name="Text 148"/>
          <p:cNvSpPr/>
          <p:nvPr/>
        </p:nvSpPr>
        <p:spPr>
          <a:xfrm>
            <a:off x="615215" y="3249328"/>
            <a:ext cx="5486400" cy="320040"/>
          </a:xfrm>
          <a:prstGeom prst="rect">
            <a:avLst/>
          </a:prstGeom>
          <a:noFill/>
          <a:ln/>
        </p:spPr>
        <p:txBody>
          <a:bodyPr wrap="square" rtlCol="0" anchor="ctr"/>
          <a:lstStyle/>
          <a:p>
            <a:pPr marL="0" indent="0">
              <a:buNone/>
            </a:pPr>
            <a:r>
              <a:rPr lang="en-US" sz="1400" b="1" dirty="0">
                <a:solidFill>
                  <a:srgbClr val="8FA6C4"/>
                </a:solidFill>
                <a:latin typeface="Calibri" pitchFamily="34" charset="0"/>
                <a:ea typeface="Calibri" pitchFamily="34" charset="-122"/>
                <a:cs typeface="Calibri" pitchFamily="34" charset="-120"/>
              </a:rPr>
              <a:t>Course Code &amp; Name: </a:t>
            </a:r>
            <a:r>
              <a:rPr lang="en-US" sz="1400" b="1" dirty="0">
                <a:solidFill>
                  <a:srgbClr val="FFFFFF"/>
                </a:solidFill>
                <a:latin typeface="Calibri" pitchFamily="34" charset="0"/>
                <a:ea typeface="Calibri" pitchFamily="34" charset="-122"/>
                <a:cs typeface="Calibri" pitchFamily="34" charset="-120"/>
              </a:rPr>
              <a:t>ITA0512-COMPUTER VISION</a:t>
            </a:r>
            <a:endParaRPr lang="en-US" sz="1400" dirty="0"/>
          </a:p>
        </p:txBody>
      </p:sp>
      <p:sp>
        <p:nvSpPr>
          <p:cNvPr id="152" name="Text 149"/>
          <p:cNvSpPr/>
          <p:nvPr/>
        </p:nvSpPr>
        <p:spPr>
          <a:xfrm>
            <a:off x="615215" y="2988483"/>
            <a:ext cx="5486400" cy="320040"/>
          </a:xfrm>
          <a:prstGeom prst="rect">
            <a:avLst/>
          </a:prstGeom>
          <a:noFill/>
          <a:ln/>
        </p:spPr>
        <p:txBody>
          <a:bodyPr wrap="square" rtlCol="0" anchor="ctr"/>
          <a:lstStyle/>
          <a:p>
            <a:pPr marL="0" indent="0">
              <a:buNone/>
            </a:pPr>
            <a:r>
              <a:rPr lang="en-US" sz="1400" b="1" dirty="0">
                <a:solidFill>
                  <a:srgbClr val="8FA6C4"/>
                </a:solidFill>
                <a:latin typeface="Calibri" pitchFamily="34" charset="0"/>
                <a:ea typeface="Calibri" pitchFamily="34" charset="-122"/>
                <a:cs typeface="Calibri" pitchFamily="34" charset="-120"/>
              </a:rPr>
              <a:t>Reg No: </a:t>
            </a:r>
            <a:r>
              <a:rPr lang="en-US" sz="1400" b="1" dirty="0">
                <a:solidFill>
                  <a:srgbClr val="FFFFFF"/>
                </a:solidFill>
                <a:latin typeface="Calibri" pitchFamily="34" charset="0"/>
                <a:ea typeface="Calibri" pitchFamily="34" charset="-122"/>
                <a:cs typeface="Calibri" pitchFamily="34" charset="-120"/>
              </a:rPr>
              <a:t>192421022</a:t>
            </a:r>
            <a:endParaRPr lang="en-US" sz="1400" dirty="0"/>
          </a:p>
        </p:txBody>
      </p:sp>
      <p:sp>
        <p:nvSpPr>
          <p:cNvPr id="148" name="Text 147">
            <a:extLst>
              <a:ext uri="{FF2B5EF4-FFF2-40B4-BE49-F238E27FC236}">
                <a16:creationId xmlns:a16="http://schemas.microsoft.com/office/drawing/2014/main" id="{53A72668-6E64-B031-FEE9-AAF0766EDE89}"/>
              </a:ext>
            </a:extLst>
          </p:cNvPr>
          <p:cNvSpPr/>
          <p:nvPr/>
        </p:nvSpPr>
        <p:spPr>
          <a:xfrm>
            <a:off x="615215" y="3515868"/>
            <a:ext cx="5486400" cy="320040"/>
          </a:xfrm>
          <a:prstGeom prst="rect">
            <a:avLst/>
          </a:prstGeom>
          <a:noFill/>
          <a:ln/>
        </p:spPr>
        <p:txBody>
          <a:bodyPr wrap="square" rtlCol="0" anchor="ctr"/>
          <a:lstStyle/>
          <a:p>
            <a:pPr marL="0" indent="0">
              <a:buNone/>
            </a:pPr>
            <a:r>
              <a:rPr lang="en-US" sz="1400" b="1" dirty="0">
                <a:solidFill>
                  <a:srgbClr val="8FA6C4"/>
                </a:solidFill>
                <a:latin typeface="Calibri" pitchFamily="34" charset="0"/>
                <a:ea typeface="Calibri" pitchFamily="34" charset="-122"/>
                <a:cs typeface="Calibri" pitchFamily="34" charset="-120"/>
              </a:rPr>
              <a:t>Guided by: </a:t>
            </a:r>
            <a:r>
              <a:rPr lang="en-US" sz="1400" b="1" dirty="0">
                <a:solidFill>
                  <a:srgbClr val="FFFFFF"/>
                </a:solidFill>
                <a:latin typeface="Calibri" pitchFamily="34" charset="0"/>
                <a:ea typeface="Calibri" pitchFamily="34" charset="-122"/>
                <a:cs typeface="Calibri" pitchFamily="34" charset="-120"/>
              </a:rPr>
              <a:t>Dr S </a:t>
            </a:r>
            <a:r>
              <a:rPr lang="en-IN" sz="1400" b="1" dirty="0">
                <a:solidFill>
                  <a:srgbClr val="FFFFFF"/>
                </a:solidFill>
                <a:latin typeface="Calibri" pitchFamily="34" charset="0"/>
                <a:ea typeface="Calibri" pitchFamily="34" charset="-122"/>
                <a:cs typeface="Calibri" pitchFamily="34" charset="-120"/>
              </a:rPr>
              <a:t>Christy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02920" y="658368"/>
            <a:ext cx="9144000" cy="274320"/>
          </a:xfrm>
          <a:prstGeom prst="rect">
            <a:avLst/>
          </a:prstGeom>
          <a:noFill/>
          <a:ln/>
        </p:spPr>
        <p:txBody>
          <a:bodyPr wrap="square" rtlCol="0" anchor="ctr"/>
          <a:lstStyle/>
          <a:p>
            <a:pPr marL="0" indent="0">
              <a:buNone/>
            </a:pPr>
            <a:r>
              <a:rPr lang="en-US" sz="3600" b="1" kern="0" spc="200" dirty="0">
                <a:solidFill>
                  <a:srgbClr val="2E86C1"/>
                </a:solidFill>
                <a:latin typeface="Calibri" pitchFamily="34" charset="0"/>
                <a:ea typeface="Calibri" pitchFamily="34" charset="-122"/>
                <a:cs typeface="Calibri" pitchFamily="34" charset="-120"/>
              </a:rPr>
              <a:t>INTRODUCTION</a:t>
            </a:r>
            <a:endParaRPr lang="en-US" sz="3600" dirty="0"/>
          </a:p>
        </p:txBody>
      </p:sp>
      <p:sp>
        <p:nvSpPr>
          <p:cNvPr id="4" name="Text 2"/>
          <p:cNvSpPr/>
          <p:nvPr/>
        </p:nvSpPr>
        <p:spPr>
          <a:xfrm>
            <a:off x="11365992" y="6446520"/>
            <a:ext cx="548640" cy="274320"/>
          </a:xfrm>
          <a:prstGeom prst="rect">
            <a:avLst/>
          </a:prstGeom>
          <a:noFill/>
          <a:ln/>
        </p:spPr>
        <p:txBody>
          <a:bodyPr wrap="square" rtlCol="0" anchor="ctr"/>
          <a:lstStyle/>
          <a:p>
            <a:pPr marL="0" indent="0" algn="r">
              <a:buNone/>
            </a:pPr>
            <a:r>
              <a:rPr lang="en-US" sz="1000" dirty="0">
                <a:solidFill>
                  <a:srgbClr val="A9B4BD"/>
                </a:solidFill>
                <a:latin typeface="Calibri" pitchFamily="34" charset="0"/>
                <a:ea typeface="Calibri" pitchFamily="34" charset="-122"/>
                <a:cs typeface="Calibri" pitchFamily="34" charset="-120"/>
              </a:rPr>
              <a:t>02</a:t>
            </a:r>
            <a:endParaRPr lang="en-US" sz="1000" dirty="0"/>
          </a:p>
        </p:txBody>
      </p:sp>
      <p:sp>
        <p:nvSpPr>
          <p:cNvPr id="5" name="Shape 3"/>
          <p:cNvSpPr/>
          <p:nvPr/>
        </p:nvSpPr>
        <p:spPr>
          <a:xfrm>
            <a:off x="594360" y="1645920"/>
            <a:ext cx="91440" cy="91440"/>
          </a:xfrm>
          <a:prstGeom prst="ellipse">
            <a:avLst/>
          </a:prstGeom>
          <a:solidFill>
            <a:srgbClr val="2E86C1"/>
          </a:solidFill>
          <a:ln/>
        </p:spPr>
      </p:sp>
      <p:sp>
        <p:nvSpPr>
          <p:cNvPr id="6" name="Text 4"/>
          <p:cNvSpPr/>
          <p:nvPr/>
        </p:nvSpPr>
        <p:spPr>
          <a:xfrm>
            <a:off x="868680" y="1490472"/>
            <a:ext cx="6080760" cy="685800"/>
          </a:xfrm>
          <a:prstGeom prst="rect">
            <a:avLst/>
          </a:prstGeom>
          <a:noFill/>
          <a:ln/>
        </p:spPr>
        <p:txBody>
          <a:bodyPr wrap="square" rtlCol="0" anchor="t"/>
          <a:lstStyle/>
          <a:p>
            <a:pPr marL="0" indent="0">
              <a:lnSpc>
                <a:spcPct val="105000"/>
              </a:lnSpc>
              <a:buNone/>
            </a:pPr>
            <a:r>
              <a:rPr lang="en-US" sz="1350" b="1" dirty="0">
                <a:solidFill>
                  <a:srgbClr val="13294B"/>
                </a:solidFill>
                <a:latin typeface="Calibri" pitchFamily="34" charset="0"/>
                <a:ea typeface="Calibri" pitchFamily="34" charset="-122"/>
                <a:cs typeface="Calibri" pitchFamily="34" charset="-120"/>
              </a:rPr>
              <a:t>Computer Vision:  </a:t>
            </a:r>
            <a:r>
              <a:rPr lang="en-US" sz="1350" dirty="0">
                <a:solidFill>
                  <a:srgbClr val="2C3539"/>
                </a:solidFill>
                <a:latin typeface="Calibri" pitchFamily="34" charset="0"/>
                <a:ea typeface="Calibri" pitchFamily="34" charset="-122"/>
                <a:cs typeface="Calibri" pitchFamily="34" charset="-120"/>
              </a:rPr>
              <a:t>AI field enabling machines to interpret and understand visual data from the real world.</a:t>
            </a:r>
            <a:endParaRPr lang="en-US" sz="1350" dirty="0"/>
          </a:p>
        </p:txBody>
      </p:sp>
      <p:sp>
        <p:nvSpPr>
          <p:cNvPr id="7" name="Shape 5"/>
          <p:cNvSpPr/>
          <p:nvPr/>
        </p:nvSpPr>
        <p:spPr>
          <a:xfrm>
            <a:off x="594360" y="2542032"/>
            <a:ext cx="91440" cy="91440"/>
          </a:xfrm>
          <a:prstGeom prst="ellipse">
            <a:avLst/>
          </a:prstGeom>
          <a:solidFill>
            <a:srgbClr val="2E86C1"/>
          </a:solidFill>
          <a:ln/>
        </p:spPr>
      </p:sp>
      <p:sp>
        <p:nvSpPr>
          <p:cNvPr id="8" name="Text 6"/>
          <p:cNvSpPr/>
          <p:nvPr/>
        </p:nvSpPr>
        <p:spPr>
          <a:xfrm>
            <a:off x="868680" y="2386584"/>
            <a:ext cx="6080760" cy="685800"/>
          </a:xfrm>
          <a:prstGeom prst="rect">
            <a:avLst/>
          </a:prstGeom>
          <a:noFill/>
          <a:ln/>
        </p:spPr>
        <p:txBody>
          <a:bodyPr wrap="square" rtlCol="0" anchor="t"/>
          <a:lstStyle/>
          <a:p>
            <a:pPr marL="0" indent="0">
              <a:lnSpc>
                <a:spcPct val="105000"/>
              </a:lnSpc>
              <a:buNone/>
            </a:pPr>
            <a:r>
              <a:rPr lang="en-US" sz="1350" b="1" dirty="0">
                <a:solidFill>
                  <a:srgbClr val="13294B"/>
                </a:solidFill>
                <a:latin typeface="Calibri" pitchFamily="34" charset="0"/>
                <a:ea typeface="Calibri" pitchFamily="34" charset="-122"/>
                <a:cs typeface="Calibri" pitchFamily="34" charset="-120"/>
              </a:rPr>
              <a:t>Smart City:  </a:t>
            </a:r>
            <a:r>
              <a:rPr lang="en-US" sz="1350" dirty="0">
                <a:solidFill>
                  <a:srgbClr val="2C3539"/>
                </a:solidFill>
                <a:latin typeface="Calibri" pitchFamily="34" charset="0"/>
                <a:ea typeface="Calibri" pitchFamily="34" charset="-122"/>
                <a:cs typeface="Calibri" pitchFamily="34" charset="-120"/>
              </a:rPr>
              <a:t>Urban ecosystem using IoT, data, and AI to improve services, safety, and sustainability.</a:t>
            </a:r>
            <a:endParaRPr lang="en-US" sz="1350" dirty="0"/>
          </a:p>
        </p:txBody>
      </p:sp>
      <p:sp>
        <p:nvSpPr>
          <p:cNvPr id="9" name="Shape 7"/>
          <p:cNvSpPr/>
          <p:nvPr/>
        </p:nvSpPr>
        <p:spPr>
          <a:xfrm>
            <a:off x="594360" y="3438144"/>
            <a:ext cx="91440" cy="91440"/>
          </a:xfrm>
          <a:prstGeom prst="ellipse">
            <a:avLst/>
          </a:prstGeom>
          <a:solidFill>
            <a:srgbClr val="2E86C1"/>
          </a:solidFill>
          <a:ln/>
        </p:spPr>
      </p:sp>
      <p:sp>
        <p:nvSpPr>
          <p:cNvPr id="10" name="Text 8"/>
          <p:cNvSpPr/>
          <p:nvPr/>
        </p:nvSpPr>
        <p:spPr>
          <a:xfrm>
            <a:off x="868680" y="3282696"/>
            <a:ext cx="6080760" cy="685800"/>
          </a:xfrm>
          <a:prstGeom prst="rect">
            <a:avLst/>
          </a:prstGeom>
          <a:noFill/>
          <a:ln/>
        </p:spPr>
        <p:txBody>
          <a:bodyPr wrap="square" rtlCol="0" anchor="t"/>
          <a:lstStyle/>
          <a:p>
            <a:pPr marL="0" indent="0">
              <a:lnSpc>
                <a:spcPct val="105000"/>
              </a:lnSpc>
              <a:buNone/>
            </a:pPr>
            <a:r>
              <a:rPr lang="en-US" sz="1350" b="1" dirty="0">
                <a:solidFill>
                  <a:srgbClr val="13294B"/>
                </a:solidFill>
                <a:latin typeface="Calibri" pitchFamily="34" charset="0"/>
                <a:ea typeface="Calibri" pitchFamily="34" charset="-122"/>
                <a:cs typeface="Calibri" pitchFamily="34" charset="-120"/>
              </a:rPr>
              <a:t>Role of AI &amp; CV:  </a:t>
            </a:r>
            <a:r>
              <a:rPr lang="en-US" sz="1350" dirty="0">
                <a:solidFill>
                  <a:srgbClr val="2C3539"/>
                </a:solidFill>
                <a:latin typeface="Calibri" pitchFamily="34" charset="0"/>
                <a:ea typeface="Calibri" pitchFamily="34" charset="-122"/>
                <a:cs typeface="Calibri" pitchFamily="34" charset="-120"/>
              </a:rPr>
              <a:t>Provides real-time perception detecting, tracking, and analyzing people, vehicles, and events.</a:t>
            </a:r>
            <a:endParaRPr lang="en-US" sz="1350" dirty="0"/>
          </a:p>
        </p:txBody>
      </p:sp>
      <p:sp>
        <p:nvSpPr>
          <p:cNvPr id="11" name="Shape 9"/>
          <p:cNvSpPr/>
          <p:nvPr/>
        </p:nvSpPr>
        <p:spPr>
          <a:xfrm>
            <a:off x="594360" y="4334256"/>
            <a:ext cx="91440" cy="91440"/>
          </a:xfrm>
          <a:prstGeom prst="ellipse">
            <a:avLst/>
          </a:prstGeom>
          <a:solidFill>
            <a:srgbClr val="2E86C1"/>
          </a:solidFill>
          <a:ln/>
        </p:spPr>
      </p:sp>
      <p:sp>
        <p:nvSpPr>
          <p:cNvPr id="12" name="Text 10"/>
          <p:cNvSpPr/>
          <p:nvPr/>
        </p:nvSpPr>
        <p:spPr>
          <a:xfrm>
            <a:off x="868680" y="4178808"/>
            <a:ext cx="6080760" cy="685800"/>
          </a:xfrm>
          <a:prstGeom prst="rect">
            <a:avLst/>
          </a:prstGeom>
          <a:noFill/>
          <a:ln/>
        </p:spPr>
        <p:txBody>
          <a:bodyPr wrap="square" rtlCol="0" anchor="t"/>
          <a:lstStyle/>
          <a:p>
            <a:pPr marL="0" indent="0">
              <a:lnSpc>
                <a:spcPct val="105000"/>
              </a:lnSpc>
              <a:buNone/>
            </a:pPr>
            <a:r>
              <a:rPr lang="en-US" sz="1350" b="1" dirty="0">
                <a:solidFill>
                  <a:srgbClr val="13294B"/>
                </a:solidFill>
                <a:latin typeface="Calibri" pitchFamily="34" charset="0"/>
                <a:ea typeface="Calibri" pitchFamily="34" charset="-122"/>
                <a:cs typeface="Calibri" pitchFamily="34" charset="-120"/>
              </a:rPr>
              <a:t>Why It Matters:  </a:t>
            </a:r>
            <a:r>
              <a:rPr lang="en-US" sz="1350" dirty="0">
                <a:solidFill>
                  <a:srgbClr val="2C3539"/>
                </a:solidFill>
                <a:latin typeface="Calibri" pitchFamily="34" charset="0"/>
                <a:ea typeface="Calibri" pitchFamily="34" charset="-122"/>
                <a:cs typeface="Calibri" pitchFamily="34" charset="-120"/>
              </a:rPr>
              <a:t>Growing urban population demands automated, scalable monitoring beyond human capacity.</a:t>
            </a:r>
            <a:endParaRPr lang="en-US" sz="1350" dirty="0"/>
          </a:p>
        </p:txBody>
      </p:sp>
      <p:sp>
        <p:nvSpPr>
          <p:cNvPr id="13" name="Shape 11"/>
          <p:cNvSpPr/>
          <p:nvPr/>
        </p:nvSpPr>
        <p:spPr>
          <a:xfrm>
            <a:off x="594360" y="5230368"/>
            <a:ext cx="91440" cy="91440"/>
          </a:xfrm>
          <a:prstGeom prst="ellipse">
            <a:avLst/>
          </a:prstGeom>
          <a:solidFill>
            <a:srgbClr val="2E86C1"/>
          </a:solidFill>
          <a:ln/>
        </p:spPr>
      </p:sp>
      <p:sp>
        <p:nvSpPr>
          <p:cNvPr id="14" name="Text 12"/>
          <p:cNvSpPr/>
          <p:nvPr/>
        </p:nvSpPr>
        <p:spPr>
          <a:xfrm>
            <a:off x="868680" y="5074920"/>
            <a:ext cx="6080760" cy="685800"/>
          </a:xfrm>
          <a:prstGeom prst="rect">
            <a:avLst/>
          </a:prstGeom>
          <a:noFill/>
          <a:ln/>
        </p:spPr>
        <p:txBody>
          <a:bodyPr wrap="square" rtlCol="0" anchor="t"/>
          <a:lstStyle/>
          <a:p>
            <a:pPr marL="0" indent="0">
              <a:lnSpc>
                <a:spcPct val="105000"/>
              </a:lnSpc>
              <a:buNone/>
            </a:pPr>
            <a:r>
              <a:rPr lang="en-US" sz="1350" b="1" dirty="0">
                <a:solidFill>
                  <a:srgbClr val="13294B"/>
                </a:solidFill>
                <a:latin typeface="Calibri" pitchFamily="34" charset="0"/>
                <a:ea typeface="Calibri" pitchFamily="34" charset="-122"/>
                <a:cs typeface="Calibri" pitchFamily="34" charset="-120"/>
              </a:rPr>
              <a:t>Key Objective:  </a:t>
            </a:r>
            <a:r>
              <a:rPr lang="en-US" sz="1350" dirty="0">
                <a:solidFill>
                  <a:srgbClr val="2C3539"/>
                </a:solidFill>
                <a:latin typeface="Calibri" pitchFamily="34" charset="0"/>
                <a:ea typeface="Calibri" pitchFamily="34" charset="-122"/>
                <a:cs typeface="Calibri" pitchFamily="34" charset="-120"/>
              </a:rPr>
              <a:t>Turn raw camera and sensor feeds into actionable decisions for city management.</a:t>
            </a:r>
            <a:endParaRPr lang="en-US" sz="1350" dirty="0"/>
          </a:p>
        </p:txBody>
      </p:sp>
      <p:sp>
        <p:nvSpPr>
          <p:cNvPr id="15" name="Shape 13"/>
          <p:cNvSpPr/>
          <p:nvPr/>
        </p:nvSpPr>
        <p:spPr>
          <a:xfrm>
            <a:off x="7452360" y="1691640"/>
            <a:ext cx="4160520" cy="4160520"/>
          </a:xfrm>
          <a:prstGeom prst="roundRect">
            <a:avLst>
              <a:gd name="adj" fmla="val 2198"/>
            </a:avLst>
          </a:prstGeom>
          <a:solidFill>
            <a:srgbClr val="13294B"/>
          </a:solidFill>
          <a:ln/>
        </p:spPr>
      </p:sp>
      <p:sp>
        <p:nvSpPr>
          <p:cNvPr id="16" name="Shape 14"/>
          <p:cNvSpPr/>
          <p:nvPr/>
        </p:nvSpPr>
        <p:spPr>
          <a:xfrm>
            <a:off x="8035290" y="2045970"/>
            <a:ext cx="914400" cy="914400"/>
          </a:xfrm>
          <a:prstGeom prst="ellipse">
            <a:avLst/>
          </a:prstGeom>
          <a:solidFill>
            <a:srgbClr val="1D3A63"/>
          </a:solidFill>
          <a:ln/>
        </p:spPr>
      </p:sp>
      <p:pic>
        <p:nvPicPr>
          <p:cNvPr id="17" name="Image 0" descr="/home/claude/cv_smart_cities/icons/eye.png"/>
          <p:cNvPicPr>
            <a:picLocks noChangeAspect="1"/>
          </p:cNvPicPr>
          <p:nvPr/>
        </p:nvPicPr>
        <p:blipFill>
          <a:blip r:embed="rId3"/>
          <a:stretch>
            <a:fillRect/>
          </a:stretch>
        </p:blipFill>
        <p:spPr>
          <a:xfrm>
            <a:off x="8241030" y="2251710"/>
            <a:ext cx="502920" cy="502920"/>
          </a:xfrm>
          <a:prstGeom prst="rect">
            <a:avLst/>
          </a:prstGeom>
        </p:spPr>
      </p:pic>
      <p:sp>
        <p:nvSpPr>
          <p:cNvPr id="18" name="Text 15"/>
          <p:cNvSpPr/>
          <p:nvPr/>
        </p:nvSpPr>
        <p:spPr>
          <a:xfrm>
            <a:off x="7452360" y="3051810"/>
            <a:ext cx="2080260" cy="54864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Computer</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Vision</a:t>
            </a:r>
            <a:endParaRPr lang="en-US" sz="1250" dirty="0"/>
          </a:p>
        </p:txBody>
      </p:sp>
      <p:sp>
        <p:nvSpPr>
          <p:cNvPr id="19" name="Shape 16"/>
          <p:cNvSpPr/>
          <p:nvPr/>
        </p:nvSpPr>
        <p:spPr>
          <a:xfrm>
            <a:off x="10115550" y="2045970"/>
            <a:ext cx="914400" cy="914400"/>
          </a:xfrm>
          <a:prstGeom prst="ellipse">
            <a:avLst/>
          </a:prstGeom>
          <a:solidFill>
            <a:srgbClr val="1D3A63"/>
          </a:solidFill>
          <a:ln/>
        </p:spPr>
      </p:sp>
      <p:pic>
        <p:nvPicPr>
          <p:cNvPr id="20" name="Image 1" descr="/home/claude/cv_smart_cities/icons/city.png"/>
          <p:cNvPicPr>
            <a:picLocks noChangeAspect="1"/>
          </p:cNvPicPr>
          <p:nvPr/>
        </p:nvPicPr>
        <p:blipFill>
          <a:blip r:embed="rId4"/>
          <a:stretch>
            <a:fillRect/>
          </a:stretch>
        </p:blipFill>
        <p:spPr>
          <a:xfrm>
            <a:off x="10321290" y="2251710"/>
            <a:ext cx="502920" cy="502920"/>
          </a:xfrm>
          <a:prstGeom prst="rect">
            <a:avLst/>
          </a:prstGeom>
        </p:spPr>
      </p:pic>
      <p:sp>
        <p:nvSpPr>
          <p:cNvPr id="21" name="Text 17"/>
          <p:cNvSpPr/>
          <p:nvPr/>
        </p:nvSpPr>
        <p:spPr>
          <a:xfrm>
            <a:off x="9532620" y="3051810"/>
            <a:ext cx="2080260" cy="54864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Smart</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City</a:t>
            </a:r>
            <a:endParaRPr lang="en-US" sz="1250" dirty="0"/>
          </a:p>
        </p:txBody>
      </p:sp>
      <p:sp>
        <p:nvSpPr>
          <p:cNvPr id="22" name="Shape 18"/>
          <p:cNvSpPr/>
          <p:nvPr/>
        </p:nvSpPr>
        <p:spPr>
          <a:xfrm>
            <a:off x="8035290" y="4126230"/>
            <a:ext cx="914400" cy="914400"/>
          </a:xfrm>
          <a:prstGeom prst="ellipse">
            <a:avLst/>
          </a:prstGeom>
          <a:solidFill>
            <a:srgbClr val="1D3A63"/>
          </a:solidFill>
          <a:ln/>
        </p:spPr>
      </p:sp>
      <p:pic>
        <p:nvPicPr>
          <p:cNvPr id="23" name="Image 2" descr="/home/claude/cv_smart_cities/icons/brain.png"/>
          <p:cNvPicPr>
            <a:picLocks noChangeAspect="1"/>
          </p:cNvPicPr>
          <p:nvPr/>
        </p:nvPicPr>
        <p:blipFill>
          <a:blip r:embed="rId5"/>
          <a:stretch>
            <a:fillRect/>
          </a:stretch>
        </p:blipFill>
        <p:spPr>
          <a:xfrm>
            <a:off x="8241030" y="4331970"/>
            <a:ext cx="502920" cy="502920"/>
          </a:xfrm>
          <a:prstGeom prst="rect">
            <a:avLst/>
          </a:prstGeom>
        </p:spPr>
      </p:pic>
      <p:sp>
        <p:nvSpPr>
          <p:cNvPr id="24" name="Text 19"/>
          <p:cNvSpPr/>
          <p:nvPr/>
        </p:nvSpPr>
        <p:spPr>
          <a:xfrm>
            <a:off x="7452360" y="5132070"/>
            <a:ext cx="2080260" cy="54864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AI</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Integration</a:t>
            </a:r>
            <a:endParaRPr lang="en-US" sz="1250" dirty="0"/>
          </a:p>
        </p:txBody>
      </p:sp>
      <p:sp>
        <p:nvSpPr>
          <p:cNvPr id="25" name="Shape 20"/>
          <p:cNvSpPr/>
          <p:nvPr/>
        </p:nvSpPr>
        <p:spPr>
          <a:xfrm>
            <a:off x="10115550" y="4126230"/>
            <a:ext cx="914400" cy="914400"/>
          </a:xfrm>
          <a:prstGeom prst="ellipse">
            <a:avLst/>
          </a:prstGeom>
          <a:solidFill>
            <a:srgbClr val="1D3A63"/>
          </a:solidFill>
          <a:ln/>
        </p:spPr>
      </p:sp>
      <p:pic>
        <p:nvPicPr>
          <p:cNvPr id="26" name="Image 3" descr="/home/claude/cv_smart_cities/icons/target.png"/>
          <p:cNvPicPr>
            <a:picLocks noChangeAspect="1"/>
          </p:cNvPicPr>
          <p:nvPr/>
        </p:nvPicPr>
        <p:blipFill>
          <a:blip r:embed="rId6"/>
          <a:stretch>
            <a:fillRect/>
          </a:stretch>
        </p:blipFill>
        <p:spPr>
          <a:xfrm>
            <a:off x="10321290" y="4331970"/>
            <a:ext cx="502920" cy="502920"/>
          </a:xfrm>
          <a:prstGeom prst="rect">
            <a:avLst/>
          </a:prstGeom>
        </p:spPr>
      </p:pic>
      <p:sp>
        <p:nvSpPr>
          <p:cNvPr id="27" name="Text 21"/>
          <p:cNvSpPr/>
          <p:nvPr/>
        </p:nvSpPr>
        <p:spPr>
          <a:xfrm>
            <a:off x="9532620" y="5132070"/>
            <a:ext cx="2080260" cy="54864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Urban</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Development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200" dirty="0">
                <a:solidFill>
                  <a:srgbClr val="2E86C1"/>
                </a:solidFill>
                <a:latin typeface="Calibri" pitchFamily="34" charset="0"/>
                <a:ea typeface="Calibri" pitchFamily="34" charset="-122"/>
                <a:cs typeface="Calibri" pitchFamily="34" charset="-120"/>
              </a:rPr>
              <a:t>PROCESS</a:t>
            </a:r>
            <a:endParaRPr lang="en-US" sz="1200" dirty="0"/>
          </a:p>
        </p:txBody>
      </p:sp>
      <p:sp>
        <p:nvSpPr>
          <p:cNvPr id="3" name="Text 1"/>
          <p:cNvSpPr/>
          <p:nvPr/>
        </p:nvSpPr>
        <p:spPr>
          <a:xfrm>
            <a:off x="502920" y="658368"/>
            <a:ext cx="10607040" cy="640080"/>
          </a:xfrm>
          <a:prstGeom prst="rect">
            <a:avLst/>
          </a:prstGeom>
          <a:noFill/>
          <a:ln/>
        </p:spPr>
        <p:txBody>
          <a:bodyPr wrap="square" rtlCol="0" anchor="ctr"/>
          <a:lstStyle/>
          <a:p>
            <a:pPr marL="0" indent="0">
              <a:buNone/>
            </a:pPr>
            <a:r>
              <a:rPr lang="en-US" sz="3000" b="1" dirty="0">
                <a:solidFill>
                  <a:srgbClr val="13294B"/>
                </a:solidFill>
                <a:latin typeface="Cambria" pitchFamily="34" charset="0"/>
                <a:ea typeface="Cambria" pitchFamily="34" charset="-122"/>
                <a:cs typeface="Cambria" pitchFamily="34" charset="-120"/>
              </a:rPr>
              <a:t>Computer Vision Workflow</a:t>
            </a:r>
            <a:endParaRPr lang="en-US" sz="3000" dirty="0"/>
          </a:p>
        </p:txBody>
      </p:sp>
      <p:sp>
        <p:nvSpPr>
          <p:cNvPr id="4" name="Text 2"/>
          <p:cNvSpPr/>
          <p:nvPr/>
        </p:nvSpPr>
        <p:spPr>
          <a:xfrm>
            <a:off x="11365992" y="6446520"/>
            <a:ext cx="548640" cy="274320"/>
          </a:xfrm>
          <a:prstGeom prst="rect">
            <a:avLst/>
          </a:prstGeom>
          <a:noFill/>
          <a:ln/>
        </p:spPr>
        <p:txBody>
          <a:bodyPr wrap="square" rtlCol="0" anchor="ctr"/>
          <a:lstStyle/>
          <a:p>
            <a:pPr marL="0" indent="0" algn="r">
              <a:buNone/>
            </a:pPr>
            <a:r>
              <a:rPr lang="en-US" sz="1000" dirty="0">
                <a:solidFill>
                  <a:srgbClr val="A9B4BD"/>
                </a:solidFill>
                <a:latin typeface="Calibri" pitchFamily="34" charset="0"/>
                <a:ea typeface="Calibri" pitchFamily="34" charset="-122"/>
                <a:cs typeface="Calibri" pitchFamily="34" charset="-120"/>
              </a:rPr>
              <a:t>03</a:t>
            </a:r>
            <a:endParaRPr lang="en-US" sz="1000" dirty="0"/>
          </a:p>
        </p:txBody>
      </p:sp>
      <p:sp>
        <p:nvSpPr>
          <p:cNvPr id="5" name="Shape 3"/>
          <p:cNvSpPr/>
          <p:nvPr/>
        </p:nvSpPr>
        <p:spPr>
          <a:xfrm>
            <a:off x="502920" y="1691640"/>
            <a:ext cx="2331720" cy="1691640"/>
          </a:xfrm>
          <a:prstGeom prst="roundRect">
            <a:avLst>
              <a:gd name="adj" fmla="val 4324"/>
            </a:avLst>
          </a:prstGeom>
          <a:solidFill>
            <a:srgbClr val="FFFFFF"/>
          </a:solidFill>
          <a:ln w="12700">
            <a:solidFill>
              <a:srgbClr val="D8E1EA"/>
            </a:solidFill>
            <a:prstDash val="solid"/>
          </a:ln>
          <a:effectLst>
            <a:outerShdw blurRad="76200" dist="25400" dir="5400000" algn="bl" rotWithShape="0">
              <a:srgbClr val="1F3B5A">
                <a:alpha val="15000"/>
              </a:srgbClr>
            </a:outerShdw>
          </a:effectLst>
        </p:spPr>
      </p:sp>
      <p:sp>
        <p:nvSpPr>
          <p:cNvPr id="6" name="Shape 4"/>
          <p:cNvSpPr/>
          <p:nvPr/>
        </p:nvSpPr>
        <p:spPr>
          <a:xfrm>
            <a:off x="1339596" y="1837944"/>
            <a:ext cx="658368" cy="658368"/>
          </a:xfrm>
          <a:prstGeom prst="ellipse">
            <a:avLst/>
          </a:prstGeom>
          <a:solidFill>
            <a:srgbClr val="2E86C1"/>
          </a:solidFill>
          <a:ln/>
        </p:spPr>
      </p:sp>
      <p:pic>
        <p:nvPicPr>
          <p:cNvPr id="7" name="Image 0" descr="/home/claude/cv_smart_cities/icons/camera.png"/>
          <p:cNvPicPr>
            <a:picLocks noChangeAspect="1"/>
          </p:cNvPicPr>
          <p:nvPr/>
        </p:nvPicPr>
        <p:blipFill>
          <a:blip r:embed="rId3"/>
          <a:stretch>
            <a:fillRect/>
          </a:stretch>
        </p:blipFill>
        <p:spPr>
          <a:xfrm>
            <a:off x="1467612" y="1965960"/>
            <a:ext cx="402336" cy="402336"/>
          </a:xfrm>
          <a:prstGeom prst="rect">
            <a:avLst/>
          </a:prstGeom>
        </p:spPr>
      </p:pic>
      <p:sp>
        <p:nvSpPr>
          <p:cNvPr id="8" name="Text 5"/>
          <p:cNvSpPr/>
          <p:nvPr/>
        </p:nvSpPr>
        <p:spPr>
          <a:xfrm>
            <a:off x="429768" y="1581912"/>
            <a:ext cx="365760" cy="365760"/>
          </a:xfrm>
          <a:prstGeom prst="ellipse">
            <a:avLst/>
          </a:prstGeom>
          <a:solidFill>
            <a:srgbClr val="13294B"/>
          </a:solid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6"/>
          <p:cNvSpPr/>
          <p:nvPr/>
        </p:nvSpPr>
        <p:spPr>
          <a:xfrm>
            <a:off x="557784" y="2560320"/>
            <a:ext cx="2221992" cy="457200"/>
          </a:xfrm>
          <a:prstGeom prst="rect">
            <a:avLst/>
          </a:prstGeom>
          <a:noFill/>
          <a:ln/>
        </p:spPr>
        <p:txBody>
          <a:bodyPr wrap="square" rtlCol="0" anchor="t"/>
          <a:lstStyle/>
          <a:p>
            <a:pPr marL="0" indent="0" algn="ctr">
              <a:buNone/>
            </a:pPr>
            <a:r>
              <a:rPr lang="en-US" sz="1150" b="1" dirty="0">
                <a:solidFill>
                  <a:srgbClr val="13294B"/>
                </a:solidFill>
                <a:latin typeface="Calibri" pitchFamily="34" charset="0"/>
                <a:ea typeface="Calibri" pitchFamily="34" charset="-122"/>
                <a:cs typeface="Calibri" pitchFamily="34" charset="-120"/>
              </a:rPr>
              <a:t>Camera / CCTV / Drone</a:t>
            </a:r>
            <a:endParaRPr lang="en-US" sz="1150" dirty="0"/>
          </a:p>
        </p:txBody>
      </p:sp>
      <p:sp>
        <p:nvSpPr>
          <p:cNvPr id="10" name="Text 7"/>
          <p:cNvSpPr/>
          <p:nvPr/>
        </p:nvSpPr>
        <p:spPr>
          <a:xfrm>
            <a:off x="594360" y="2971800"/>
            <a:ext cx="2148840" cy="384048"/>
          </a:xfrm>
          <a:prstGeom prst="rect">
            <a:avLst/>
          </a:prstGeom>
          <a:noFill/>
          <a:ln/>
        </p:spPr>
        <p:txBody>
          <a:bodyPr wrap="square" rtlCol="0" anchor="t"/>
          <a:lstStyle/>
          <a:p>
            <a:pPr marL="0" indent="0" algn="ctr">
              <a:buNone/>
            </a:pPr>
            <a:r>
              <a:rPr lang="en-US" sz="850" dirty="0">
                <a:solidFill>
                  <a:srgbClr val="5B6770"/>
                </a:solidFill>
                <a:latin typeface="Calibri" pitchFamily="34" charset="0"/>
                <a:ea typeface="Calibri" pitchFamily="34" charset="-122"/>
                <a:cs typeface="Calibri" pitchFamily="34" charset="-120"/>
              </a:rPr>
              <a:t>Captures live video of streets, junctions &amp; public areas</a:t>
            </a:r>
            <a:endParaRPr lang="en-US" sz="850" dirty="0"/>
          </a:p>
        </p:txBody>
      </p:sp>
      <p:sp>
        <p:nvSpPr>
          <p:cNvPr id="11" name="Shape 8"/>
          <p:cNvSpPr/>
          <p:nvPr/>
        </p:nvSpPr>
        <p:spPr>
          <a:xfrm>
            <a:off x="2852928" y="2455164"/>
            <a:ext cx="164592" cy="164592"/>
          </a:xfrm>
          <a:prstGeom prst="rightArrow">
            <a:avLst/>
          </a:prstGeom>
          <a:solidFill>
            <a:srgbClr val="17C3B2"/>
          </a:solidFill>
          <a:ln/>
        </p:spPr>
      </p:sp>
      <p:sp>
        <p:nvSpPr>
          <p:cNvPr id="12" name="Shape 9"/>
          <p:cNvSpPr/>
          <p:nvPr/>
        </p:nvSpPr>
        <p:spPr>
          <a:xfrm>
            <a:off x="3035808" y="1691640"/>
            <a:ext cx="2331720" cy="1691640"/>
          </a:xfrm>
          <a:prstGeom prst="roundRect">
            <a:avLst>
              <a:gd name="adj" fmla="val 4324"/>
            </a:avLst>
          </a:prstGeom>
          <a:solidFill>
            <a:srgbClr val="FFFFFF"/>
          </a:solidFill>
          <a:ln w="12700">
            <a:solidFill>
              <a:srgbClr val="D8E1EA"/>
            </a:solidFill>
            <a:prstDash val="solid"/>
          </a:ln>
          <a:effectLst>
            <a:outerShdw blurRad="76200" dist="25400" dir="5400000" algn="bl" rotWithShape="0">
              <a:srgbClr val="1F3B5A">
                <a:alpha val="15000"/>
              </a:srgbClr>
            </a:outerShdw>
          </a:effectLst>
        </p:spPr>
      </p:sp>
      <p:sp>
        <p:nvSpPr>
          <p:cNvPr id="13" name="Shape 10"/>
          <p:cNvSpPr/>
          <p:nvPr/>
        </p:nvSpPr>
        <p:spPr>
          <a:xfrm>
            <a:off x="3872484" y="1837944"/>
            <a:ext cx="658368" cy="658368"/>
          </a:xfrm>
          <a:prstGeom prst="ellipse">
            <a:avLst/>
          </a:prstGeom>
          <a:solidFill>
            <a:srgbClr val="2E86C1"/>
          </a:solidFill>
          <a:ln/>
        </p:spPr>
      </p:sp>
      <p:pic>
        <p:nvPicPr>
          <p:cNvPr id="14" name="Image 1" descr="/home/claude/cv_smart_cities/icons/imgacq.png"/>
          <p:cNvPicPr>
            <a:picLocks noChangeAspect="1"/>
          </p:cNvPicPr>
          <p:nvPr/>
        </p:nvPicPr>
        <p:blipFill>
          <a:blip r:embed="rId4"/>
          <a:stretch>
            <a:fillRect/>
          </a:stretch>
        </p:blipFill>
        <p:spPr>
          <a:xfrm>
            <a:off x="4000500" y="1965960"/>
            <a:ext cx="402336" cy="402336"/>
          </a:xfrm>
          <a:prstGeom prst="rect">
            <a:avLst/>
          </a:prstGeom>
        </p:spPr>
      </p:pic>
      <p:sp>
        <p:nvSpPr>
          <p:cNvPr id="15" name="Text 11"/>
          <p:cNvSpPr/>
          <p:nvPr/>
        </p:nvSpPr>
        <p:spPr>
          <a:xfrm>
            <a:off x="2962656" y="1581912"/>
            <a:ext cx="365760" cy="365760"/>
          </a:xfrm>
          <a:prstGeom prst="ellipse">
            <a:avLst/>
          </a:prstGeom>
          <a:solidFill>
            <a:srgbClr val="13294B"/>
          </a:solid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2"/>
          <p:cNvSpPr/>
          <p:nvPr/>
        </p:nvSpPr>
        <p:spPr>
          <a:xfrm>
            <a:off x="3090672" y="2560320"/>
            <a:ext cx="2221992" cy="457200"/>
          </a:xfrm>
          <a:prstGeom prst="rect">
            <a:avLst/>
          </a:prstGeom>
          <a:noFill/>
          <a:ln/>
        </p:spPr>
        <p:txBody>
          <a:bodyPr wrap="square" rtlCol="0" anchor="t"/>
          <a:lstStyle/>
          <a:p>
            <a:pPr marL="0" indent="0" algn="ctr">
              <a:buNone/>
            </a:pPr>
            <a:r>
              <a:rPr lang="en-US" sz="1150" b="1" dirty="0">
                <a:solidFill>
                  <a:srgbClr val="13294B"/>
                </a:solidFill>
                <a:latin typeface="Calibri" pitchFamily="34" charset="0"/>
                <a:ea typeface="Calibri" pitchFamily="34" charset="-122"/>
                <a:cs typeface="Calibri" pitchFamily="34" charset="-120"/>
              </a:rPr>
              <a:t>Image Acquisition</a:t>
            </a:r>
            <a:endParaRPr lang="en-US" sz="1150" dirty="0"/>
          </a:p>
        </p:txBody>
      </p:sp>
      <p:sp>
        <p:nvSpPr>
          <p:cNvPr id="17" name="Text 13"/>
          <p:cNvSpPr/>
          <p:nvPr/>
        </p:nvSpPr>
        <p:spPr>
          <a:xfrm>
            <a:off x="3127248" y="2971800"/>
            <a:ext cx="2148840" cy="384048"/>
          </a:xfrm>
          <a:prstGeom prst="rect">
            <a:avLst/>
          </a:prstGeom>
          <a:noFill/>
          <a:ln/>
        </p:spPr>
        <p:txBody>
          <a:bodyPr wrap="square" rtlCol="0" anchor="t"/>
          <a:lstStyle/>
          <a:p>
            <a:pPr marL="0" indent="0" algn="ctr">
              <a:buNone/>
            </a:pPr>
            <a:r>
              <a:rPr lang="en-US" sz="850" dirty="0">
                <a:solidFill>
                  <a:srgbClr val="5B6770"/>
                </a:solidFill>
                <a:latin typeface="Calibri" pitchFamily="34" charset="0"/>
                <a:ea typeface="Calibri" pitchFamily="34" charset="-122"/>
                <a:cs typeface="Calibri" pitchFamily="34" charset="-120"/>
              </a:rPr>
              <a:t>Raw video frames are captured and digitized</a:t>
            </a:r>
            <a:endParaRPr lang="en-US" sz="850" dirty="0"/>
          </a:p>
        </p:txBody>
      </p:sp>
      <p:sp>
        <p:nvSpPr>
          <p:cNvPr id="18" name="Shape 14"/>
          <p:cNvSpPr/>
          <p:nvPr/>
        </p:nvSpPr>
        <p:spPr>
          <a:xfrm>
            <a:off x="5385816" y="2455164"/>
            <a:ext cx="164592" cy="164592"/>
          </a:xfrm>
          <a:prstGeom prst="rightArrow">
            <a:avLst/>
          </a:prstGeom>
          <a:solidFill>
            <a:srgbClr val="17C3B2"/>
          </a:solidFill>
          <a:ln/>
        </p:spPr>
      </p:sp>
      <p:sp>
        <p:nvSpPr>
          <p:cNvPr id="19" name="Shape 15"/>
          <p:cNvSpPr/>
          <p:nvPr/>
        </p:nvSpPr>
        <p:spPr>
          <a:xfrm>
            <a:off x="5568696" y="1691640"/>
            <a:ext cx="2331720" cy="1691640"/>
          </a:xfrm>
          <a:prstGeom prst="roundRect">
            <a:avLst>
              <a:gd name="adj" fmla="val 4324"/>
            </a:avLst>
          </a:prstGeom>
          <a:solidFill>
            <a:srgbClr val="FFFFFF"/>
          </a:solidFill>
          <a:ln w="12700">
            <a:solidFill>
              <a:srgbClr val="D8E1EA"/>
            </a:solidFill>
            <a:prstDash val="solid"/>
          </a:ln>
          <a:effectLst>
            <a:outerShdw blurRad="76200" dist="25400" dir="5400000" algn="bl" rotWithShape="0">
              <a:srgbClr val="1F3B5A">
                <a:alpha val="15000"/>
              </a:srgbClr>
            </a:outerShdw>
          </a:effectLst>
        </p:spPr>
      </p:sp>
      <p:sp>
        <p:nvSpPr>
          <p:cNvPr id="20" name="Shape 16"/>
          <p:cNvSpPr/>
          <p:nvPr/>
        </p:nvSpPr>
        <p:spPr>
          <a:xfrm>
            <a:off x="6405372" y="1837944"/>
            <a:ext cx="658368" cy="658368"/>
          </a:xfrm>
          <a:prstGeom prst="ellipse">
            <a:avLst/>
          </a:prstGeom>
          <a:solidFill>
            <a:srgbClr val="2E86C1"/>
          </a:solidFill>
          <a:ln/>
        </p:spPr>
      </p:sp>
      <p:pic>
        <p:nvPicPr>
          <p:cNvPr id="21" name="Image 2" descr="/home/claude/cv_smart_cities/icons/preprocess.png"/>
          <p:cNvPicPr>
            <a:picLocks noChangeAspect="1"/>
          </p:cNvPicPr>
          <p:nvPr/>
        </p:nvPicPr>
        <p:blipFill>
          <a:blip r:embed="rId5"/>
          <a:stretch>
            <a:fillRect/>
          </a:stretch>
        </p:blipFill>
        <p:spPr>
          <a:xfrm>
            <a:off x="6533388" y="1965960"/>
            <a:ext cx="402336" cy="402336"/>
          </a:xfrm>
          <a:prstGeom prst="rect">
            <a:avLst/>
          </a:prstGeom>
        </p:spPr>
      </p:pic>
      <p:sp>
        <p:nvSpPr>
          <p:cNvPr id="22" name="Text 17"/>
          <p:cNvSpPr/>
          <p:nvPr/>
        </p:nvSpPr>
        <p:spPr>
          <a:xfrm>
            <a:off x="5495544" y="1581912"/>
            <a:ext cx="365760" cy="365760"/>
          </a:xfrm>
          <a:prstGeom prst="ellipse">
            <a:avLst/>
          </a:prstGeom>
          <a:solidFill>
            <a:srgbClr val="13294B"/>
          </a:solid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3" name="Text 18"/>
          <p:cNvSpPr/>
          <p:nvPr/>
        </p:nvSpPr>
        <p:spPr>
          <a:xfrm>
            <a:off x="5623560" y="2560320"/>
            <a:ext cx="2221992" cy="457200"/>
          </a:xfrm>
          <a:prstGeom prst="rect">
            <a:avLst/>
          </a:prstGeom>
          <a:noFill/>
          <a:ln/>
        </p:spPr>
        <p:txBody>
          <a:bodyPr wrap="square" rtlCol="0" anchor="t"/>
          <a:lstStyle/>
          <a:p>
            <a:pPr marL="0" indent="0" algn="ctr">
              <a:buNone/>
            </a:pPr>
            <a:r>
              <a:rPr lang="en-US" sz="1150" b="1" dirty="0">
                <a:solidFill>
                  <a:srgbClr val="13294B"/>
                </a:solidFill>
                <a:latin typeface="Calibri" pitchFamily="34" charset="0"/>
                <a:ea typeface="Calibri" pitchFamily="34" charset="-122"/>
                <a:cs typeface="Calibri" pitchFamily="34" charset="-120"/>
              </a:rPr>
              <a:t>Preprocessing</a:t>
            </a:r>
            <a:endParaRPr lang="en-US" sz="1150" dirty="0"/>
          </a:p>
        </p:txBody>
      </p:sp>
      <p:sp>
        <p:nvSpPr>
          <p:cNvPr id="24" name="Text 19"/>
          <p:cNvSpPr/>
          <p:nvPr/>
        </p:nvSpPr>
        <p:spPr>
          <a:xfrm>
            <a:off x="5660136" y="2971800"/>
            <a:ext cx="2148840" cy="384048"/>
          </a:xfrm>
          <a:prstGeom prst="rect">
            <a:avLst/>
          </a:prstGeom>
          <a:noFill/>
          <a:ln/>
        </p:spPr>
        <p:txBody>
          <a:bodyPr wrap="square" rtlCol="0" anchor="t"/>
          <a:lstStyle/>
          <a:p>
            <a:pPr marL="0" indent="0" algn="ctr">
              <a:buNone/>
            </a:pPr>
            <a:r>
              <a:rPr lang="en-US" sz="850" dirty="0">
                <a:solidFill>
                  <a:srgbClr val="5B6770"/>
                </a:solidFill>
                <a:latin typeface="Calibri" pitchFamily="34" charset="0"/>
                <a:ea typeface="Calibri" pitchFamily="34" charset="-122"/>
                <a:cs typeface="Calibri" pitchFamily="34" charset="-120"/>
              </a:rPr>
              <a:t>Noise removal, resizing, contrast enhancement</a:t>
            </a:r>
            <a:endParaRPr lang="en-US" sz="850" dirty="0"/>
          </a:p>
        </p:txBody>
      </p:sp>
      <p:sp>
        <p:nvSpPr>
          <p:cNvPr id="25" name="Shape 20"/>
          <p:cNvSpPr/>
          <p:nvPr/>
        </p:nvSpPr>
        <p:spPr>
          <a:xfrm>
            <a:off x="7918704" y="2455164"/>
            <a:ext cx="164592" cy="164592"/>
          </a:xfrm>
          <a:prstGeom prst="rightArrow">
            <a:avLst/>
          </a:prstGeom>
          <a:solidFill>
            <a:srgbClr val="17C3B2"/>
          </a:solidFill>
          <a:ln/>
        </p:spPr>
      </p:sp>
      <p:sp>
        <p:nvSpPr>
          <p:cNvPr id="26" name="Shape 21"/>
          <p:cNvSpPr/>
          <p:nvPr/>
        </p:nvSpPr>
        <p:spPr>
          <a:xfrm>
            <a:off x="8101584" y="1691640"/>
            <a:ext cx="2331720" cy="1691640"/>
          </a:xfrm>
          <a:prstGeom prst="roundRect">
            <a:avLst>
              <a:gd name="adj" fmla="val 4324"/>
            </a:avLst>
          </a:prstGeom>
          <a:solidFill>
            <a:srgbClr val="FFFFFF"/>
          </a:solidFill>
          <a:ln w="12700">
            <a:solidFill>
              <a:srgbClr val="D8E1EA"/>
            </a:solidFill>
            <a:prstDash val="solid"/>
          </a:ln>
          <a:effectLst>
            <a:outerShdw blurRad="76200" dist="25400" dir="5400000" algn="bl" rotWithShape="0">
              <a:srgbClr val="1F3B5A">
                <a:alpha val="15000"/>
              </a:srgbClr>
            </a:outerShdw>
          </a:effectLst>
        </p:spPr>
      </p:sp>
      <p:sp>
        <p:nvSpPr>
          <p:cNvPr id="27" name="Shape 22"/>
          <p:cNvSpPr/>
          <p:nvPr/>
        </p:nvSpPr>
        <p:spPr>
          <a:xfrm>
            <a:off x="8938260" y="1837944"/>
            <a:ext cx="658368" cy="658368"/>
          </a:xfrm>
          <a:prstGeom prst="ellipse">
            <a:avLst/>
          </a:prstGeom>
          <a:solidFill>
            <a:srgbClr val="2E86C1"/>
          </a:solidFill>
          <a:ln/>
        </p:spPr>
      </p:sp>
      <p:pic>
        <p:nvPicPr>
          <p:cNvPr id="28" name="Image 3" descr="/home/claude/cv_smart_cities/icons/ai.png"/>
          <p:cNvPicPr>
            <a:picLocks noChangeAspect="1"/>
          </p:cNvPicPr>
          <p:nvPr/>
        </p:nvPicPr>
        <p:blipFill>
          <a:blip r:embed="rId6"/>
          <a:stretch>
            <a:fillRect/>
          </a:stretch>
        </p:blipFill>
        <p:spPr>
          <a:xfrm>
            <a:off x="9066276" y="1965960"/>
            <a:ext cx="402336" cy="402336"/>
          </a:xfrm>
          <a:prstGeom prst="rect">
            <a:avLst/>
          </a:prstGeom>
        </p:spPr>
      </p:pic>
      <p:sp>
        <p:nvSpPr>
          <p:cNvPr id="29" name="Text 23"/>
          <p:cNvSpPr/>
          <p:nvPr/>
        </p:nvSpPr>
        <p:spPr>
          <a:xfrm>
            <a:off x="8028432" y="1581912"/>
            <a:ext cx="365760" cy="365760"/>
          </a:xfrm>
          <a:prstGeom prst="ellipse">
            <a:avLst/>
          </a:prstGeom>
          <a:solidFill>
            <a:srgbClr val="13294B"/>
          </a:solid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30" name="Text 24"/>
          <p:cNvSpPr/>
          <p:nvPr/>
        </p:nvSpPr>
        <p:spPr>
          <a:xfrm>
            <a:off x="8156448" y="2560320"/>
            <a:ext cx="2221992" cy="457200"/>
          </a:xfrm>
          <a:prstGeom prst="rect">
            <a:avLst/>
          </a:prstGeom>
          <a:noFill/>
          <a:ln/>
        </p:spPr>
        <p:txBody>
          <a:bodyPr wrap="square" rtlCol="0" anchor="t"/>
          <a:lstStyle/>
          <a:p>
            <a:pPr marL="0" indent="0" algn="ctr">
              <a:buNone/>
            </a:pPr>
            <a:r>
              <a:rPr lang="en-US" sz="1150" b="1" dirty="0">
                <a:solidFill>
                  <a:srgbClr val="13294B"/>
                </a:solidFill>
                <a:latin typeface="Calibri" pitchFamily="34" charset="0"/>
                <a:ea typeface="Calibri" pitchFamily="34" charset="-122"/>
                <a:cs typeface="Calibri" pitchFamily="34" charset="-120"/>
              </a:rPr>
              <a:t>AI &amp; Deep Learning</a:t>
            </a:r>
            <a:endParaRPr lang="en-US" sz="1150" dirty="0"/>
          </a:p>
          <a:p>
            <a:pPr marL="0" indent="0" algn="ctr">
              <a:buNone/>
            </a:pPr>
            <a:r>
              <a:rPr lang="en-US" sz="1150" b="1" dirty="0">
                <a:solidFill>
                  <a:srgbClr val="13294B"/>
                </a:solidFill>
                <a:latin typeface="Calibri" pitchFamily="34" charset="0"/>
                <a:ea typeface="Calibri" pitchFamily="34" charset="-122"/>
                <a:cs typeface="Calibri" pitchFamily="34" charset="-120"/>
              </a:rPr>
              <a:t>(CNN / YOLO)</a:t>
            </a:r>
            <a:endParaRPr lang="en-US" sz="1150" dirty="0"/>
          </a:p>
        </p:txBody>
      </p:sp>
      <p:sp>
        <p:nvSpPr>
          <p:cNvPr id="31" name="Text 25"/>
          <p:cNvSpPr/>
          <p:nvPr/>
        </p:nvSpPr>
        <p:spPr>
          <a:xfrm>
            <a:off x="8193024" y="2971800"/>
            <a:ext cx="2148840" cy="384048"/>
          </a:xfrm>
          <a:prstGeom prst="rect">
            <a:avLst/>
          </a:prstGeom>
          <a:noFill/>
          <a:ln/>
        </p:spPr>
        <p:txBody>
          <a:bodyPr wrap="square" rtlCol="0" anchor="t"/>
          <a:lstStyle/>
          <a:p>
            <a:pPr marL="0" indent="0" algn="ctr">
              <a:buNone/>
            </a:pPr>
            <a:r>
              <a:rPr lang="en-US" sz="850" dirty="0">
                <a:solidFill>
                  <a:srgbClr val="5B6770"/>
                </a:solidFill>
                <a:latin typeface="Calibri" pitchFamily="34" charset="0"/>
                <a:ea typeface="Calibri" pitchFamily="34" charset="-122"/>
                <a:cs typeface="Calibri" pitchFamily="34" charset="-120"/>
              </a:rPr>
              <a:t>Model extracts features and learns patterns</a:t>
            </a:r>
            <a:endParaRPr lang="en-US" sz="850" dirty="0"/>
          </a:p>
        </p:txBody>
      </p:sp>
      <p:sp>
        <p:nvSpPr>
          <p:cNvPr id="32" name="Shape 26"/>
          <p:cNvSpPr/>
          <p:nvPr/>
        </p:nvSpPr>
        <p:spPr>
          <a:xfrm flipH="1">
            <a:off x="8101584" y="3383280"/>
            <a:ext cx="2331720" cy="685800"/>
          </a:xfrm>
          <a:prstGeom prst="bentConnector2">
            <a:avLst/>
          </a:prstGeom>
          <a:noFill/>
          <a:ln w="31750">
            <a:solidFill>
              <a:srgbClr val="17C3B2"/>
            </a:solidFill>
            <a:prstDash val="solid"/>
            <a:tailEnd type="triangle"/>
          </a:ln>
        </p:spPr>
      </p:sp>
      <p:sp>
        <p:nvSpPr>
          <p:cNvPr id="33" name="Shape 27"/>
          <p:cNvSpPr/>
          <p:nvPr/>
        </p:nvSpPr>
        <p:spPr>
          <a:xfrm>
            <a:off x="8101584" y="4069080"/>
            <a:ext cx="2331720" cy="1691640"/>
          </a:xfrm>
          <a:prstGeom prst="roundRect">
            <a:avLst>
              <a:gd name="adj" fmla="val 4324"/>
            </a:avLst>
          </a:prstGeom>
          <a:solidFill>
            <a:srgbClr val="FFFFFF"/>
          </a:solidFill>
          <a:ln w="12700">
            <a:solidFill>
              <a:srgbClr val="D8E1EA"/>
            </a:solidFill>
            <a:prstDash val="solid"/>
          </a:ln>
          <a:effectLst>
            <a:outerShdw blurRad="76200" dist="25400" dir="5400000" algn="bl" rotWithShape="0">
              <a:srgbClr val="1F3B5A">
                <a:alpha val="15000"/>
              </a:srgbClr>
            </a:outerShdw>
          </a:effectLst>
        </p:spPr>
      </p:sp>
      <p:sp>
        <p:nvSpPr>
          <p:cNvPr id="34" name="Shape 28"/>
          <p:cNvSpPr/>
          <p:nvPr/>
        </p:nvSpPr>
        <p:spPr>
          <a:xfrm>
            <a:off x="8938260" y="4215384"/>
            <a:ext cx="658368" cy="658368"/>
          </a:xfrm>
          <a:prstGeom prst="ellipse">
            <a:avLst/>
          </a:prstGeom>
          <a:solidFill>
            <a:srgbClr val="2E86C1"/>
          </a:solidFill>
          <a:ln/>
        </p:spPr>
      </p:sp>
      <p:pic>
        <p:nvPicPr>
          <p:cNvPr id="35" name="Image 4" descr="/home/claude/cv_smart_cities/icons/detect.png"/>
          <p:cNvPicPr>
            <a:picLocks noChangeAspect="1"/>
          </p:cNvPicPr>
          <p:nvPr/>
        </p:nvPicPr>
        <p:blipFill>
          <a:blip r:embed="rId7"/>
          <a:stretch>
            <a:fillRect/>
          </a:stretch>
        </p:blipFill>
        <p:spPr>
          <a:xfrm>
            <a:off x="9066276" y="4343400"/>
            <a:ext cx="402336" cy="402336"/>
          </a:xfrm>
          <a:prstGeom prst="rect">
            <a:avLst/>
          </a:prstGeom>
        </p:spPr>
      </p:pic>
      <p:sp>
        <p:nvSpPr>
          <p:cNvPr id="36" name="Text 29"/>
          <p:cNvSpPr/>
          <p:nvPr/>
        </p:nvSpPr>
        <p:spPr>
          <a:xfrm>
            <a:off x="8028432" y="3959352"/>
            <a:ext cx="365760" cy="365760"/>
          </a:xfrm>
          <a:prstGeom prst="ellipse">
            <a:avLst/>
          </a:prstGeom>
          <a:solidFill>
            <a:srgbClr val="13294B"/>
          </a:solid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7" name="Text 30"/>
          <p:cNvSpPr/>
          <p:nvPr/>
        </p:nvSpPr>
        <p:spPr>
          <a:xfrm>
            <a:off x="8156448" y="4937760"/>
            <a:ext cx="2221992" cy="457200"/>
          </a:xfrm>
          <a:prstGeom prst="rect">
            <a:avLst/>
          </a:prstGeom>
          <a:noFill/>
          <a:ln/>
        </p:spPr>
        <p:txBody>
          <a:bodyPr wrap="square" rtlCol="0" anchor="t"/>
          <a:lstStyle/>
          <a:p>
            <a:pPr marL="0" indent="0" algn="ctr">
              <a:buNone/>
            </a:pPr>
            <a:r>
              <a:rPr lang="en-US" sz="1150" b="1" dirty="0">
                <a:solidFill>
                  <a:srgbClr val="13294B"/>
                </a:solidFill>
                <a:latin typeface="Calibri" pitchFamily="34" charset="0"/>
                <a:ea typeface="Calibri" pitchFamily="34" charset="-122"/>
                <a:cs typeface="Calibri" pitchFamily="34" charset="-120"/>
              </a:rPr>
              <a:t>Object Detection</a:t>
            </a:r>
            <a:endParaRPr lang="en-US" sz="1150" dirty="0"/>
          </a:p>
          <a:p>
            <a:pPr marL="0" indent="0" algn="ctr">
              <a:buNone/>
            </a:pPr>
            <a:r>
              <a:rPr lang="en-US" sz="1150" b="1" dirty="0">
                <a:solidFill>
                  <a:srgbClr val="13294B"/>
                </a:solidFill>
                <a:latin typeface="Calibri" pitchFamily="34" charset="0"/>
                <a:ea typeface="Calibri" pitchFamily="34" charset="-122"/>
                <a:cs typeface="Calibri" pitchFamily="34" charset="-120"/>
              </a:rPr>
              <a:t>&amp; Analysis</a:t>
            </a:r>
            <a:endParaRPr lang="en-US" sz="1150" dirty="0"/>
          </a:p>
        </p:txBody>
      </p:sp>
      <p:sp>
        <p:nvSpPr>
          <p:cNvPr id="38" name="Text 31"/>
          <p:cNvSpPr/>
          <p:nvPr/>
        </p:nvSpPr>
        <p:spPr>
          <a:xfrm>
            <a:off x="8193024" y="5349240"/>
            <a:ext cx="2148840" cy="384048"/>
          </a:xfrm>
          <a:prstGeom prst="rect">
            <a:avLst/>
          </a:prstGeom>
          <a:noFill/>
          <a:ln/>
        </p:spPr>
        <p:txBody>
          <a:bodyPr wrap="square" rtlCol="0" anchor="t"/>
          <a:lstStyle/>
          <a:p>
            <a:pPr marL="0" indent="0" algn="ctr">
              <a:buNone/>
            </a:pPr>
            <a:r>
              <a:rPr lang="en-US" sz="850" dirty="0">
                <a:solidFill>
                  <a:srgbClr val="5B6770"/>
                </a:solidFill>
                <a:latin typeface="Calibri" pitchFamily="34" charset="0"/>
                <a:ea typeface="Calibri" pitchFamily="34" charset="-122"/>
                <a:cs typeface="Calibri" pitchFamily="34" charset="-120"/>
              </a:rPr>
              <a:t>Identifies vehicles, people, objects &amp; events</a:t>
            </a:r>
            <a:endParaRPr lang="en-US" sz="850" dirty="0"/>
          </a:p>
        </p:txBody>
      </p:sp>
      <p:sp>
        <p:nvSpPr>
          <p:cNvPr id="39" name="Shape 32"/>
          <p:cNvSpPr/>
          <p:nvPr/>
        </p:nvSpPr>
        <p:spPr>
          <a:xfrm>
            <a:off x="7918704" y="4832604"/>
            <a:ext cx="164592" cy="164592"/>
          </a:xfrm>
          <a:prstGeom prst="leftArrow">
            <a:avLst/>
          </a:prstGeom>
          <a:solidFill>
            <a:srgbClr val="17C3B2"/>
          </a:solidFill>
          <a:ln/>
        </p:spPr>
      </p:sp>
      <p:sp>
        <p:nvSpPr>
          <p:cNvPr id="40" name="Shape 33"/>
          <p:cNvSpPr/>
          <p:nvPr/>
        </p:nvSpPr>
        <p:spPr>
          <a:xfrm>
            <a:off x="5568696" y="4069080"/>
            <a:ext cx="2331720" cy="1691640"/>
          </a:xfrm>
          <a:prstGeom prst="roundRect">
            <a:avLst>
              <a:gd name="adj" fmla="val 4324"/>
            </a:avLst>
          </a:prstGeom>
          <a:solidFill>
            <a:srgbClr val="FFFFFF"/>
          </a:solidFill>
          <a:ln w="12700">
            <a:solidFill>
              <a:srgbClr val="D8E1EA"/>
            </a:solidFill>
            <a:prstDash val="solid"/>
          </a:ln>
          <a:effectLst>
            <a:outerShdw blurRad="76200" dist="25400" dir="5400000" algn="bl" rotWithShape="0">
              <a:srgbClr val="1F3B5A">
                <a:alpha val="15000"/>
              </a:srgbClr>
            </a:outerShdw>
          </a:effectLst>
        </p:spPr>
      </p:sp>
      <p:sp>
        <p:nvSpPr>
          <p:cNvPr id="41" name="Shape 34"/>
          <p:cNvSpPr/>
          <p:nvPr/>
        </p:nvSpPr>
        <p:spPr>
          <a:xfrm>
            <a:off x="6405372" y="4215384"/>
            <a:ext cx="658368" cy="658368"/>
          </a:xfrm>
          <a:prstGeom prst="ellipse">
            <a:avLst/>
          </a:prstGeom>
          <a:solidFill>
            <a:srgbClr val="2E86C1"/>
          </a:solidFill>
          <a:ln/>
        </p:spPr>
      </p:sp>
      <p:pic>
        <p:nvPicPr>
          <p:cNvPr id="42" name="Image 5" descr="/home/claude/cv_smart_cities/icons/decision.png"/>
          <p:cNvPicPr>
            <a:picLocks noChangeAspect="1"/>
          </p:cNvPicPr>
          <p:nvPr/>
        </p:nvPicPr>
        <p:blipFill>
          <a:blip r:embed="rId8"/>
          <a:stretch>
            <a:fillRect/>
          </a:stretch>
        </p:blipFill>
        <p:spPr>
          <a:xfrm>
            <a:off x="6533388" y="4343400"/>
            <a:ext cx="402336" cy="402336"/>
          </a:xfrm>
          <a:prstGeom prst="rect">
            <a:avLst/>
          </a:prstGeom>
        </p:spPr>
      </p:pic>
      <p:sp>
        <p:nvSpPr>
          <p:cNvPr id="43" name="Text 35"/>
          <p:cNvSpPr/>
          <p:nvPr/>
        </p:nvSpPr>
        <p:spPr>
          <a:xfrm>
            <a:off x="5495544" y="3959352"/>
            <a:ext cx="365760" cy="365760"/>
          </a:xfrm>
          <a:prstGeom prst="ellipse">
            <a:avLst/>
          </a:prstGeom>
          <a:solidFill>
            <a:srgbClr val="13294B"/>
          </a:solid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44" name="Text 36"/>
          <p:cNvSpPr/>
          <p:nvPr/>
        </p:nvSpPr>
        <p:spPr>
          <a:xfrm>
            <a:off x="5623560" y="4937760"/>
            <a:ext cx="2221992" cy="457200"/>
          </a:xfrm>
          <a:prstGeom prst="rect">
            <a:avLst/>
          </a:prstGeom>
          <a:noFill/>
          <a:ln/>
        </p:spPr>
        <p:txBody>
          <a:bodyPr wrap="square" rtlCol="0" anchor="t"/>
          <a:lstStyle/>
          <a:p>
            <a:pPr marL="0" indent="0" algn="ctr">
              <a:buNone/>
            </a:pPr>
            <a:r>
              <a:rPr lang="en-US" sz="1150" b="1" dirty="0">
                <a:solidFill>
                  <a:srgbClr val="13294B"/>
                </a:solidFill>
                <a:latin typeface="Calibri" pitchFamily="34" charset="0"/>
                <a:ea typeface="Calibri" pitchFamily="34" charset="-122"/>
                <a:cs typeface="Calibri" pitchFamily="34" charset="-120"/>
              </a:rPr>
              <a:t>Decision Making</a:t>
            </a:r>
            <a:endParaRPr lang="en-US" sz="1150" dirty="0"/>
          </a:p>
        </p:txBody>
      </p:sp>
      <p:sp>
        <p:nvSpPr>
          <p:cNvPr id="45" name="Text 37"/>
          <p:cNvSpPr/>
          <p:nvPr/>
        </p:nvSpPr>
        <p:spPr>
          <a:xfrm>
            <a:off x="5660136" y="5349240"/>
            <a:ext cx="2148840" cy="384048"/>
          </a:xfrm>
          <a:prstGeom prst="rect">
            <a:avLst/>
          </a:prstGeom>
          <a:noFill/>
          <a:ln/>
        </p:spPr>
        <p:txBody>
          <a:bodyPr wrap="square" rtlCol="0" anchor="t"/>
          <a:lstStyle/>
          <a:p>
            <a:pPr marL="0" indent="0" algn="ctr">
              <a:buNone/>
            </a:pPr>
            <a:r>
              <a:rPr lang="en-US" sz="850" dirty="0">
                <a:solidFill>
                  <a:srgbClr val="5B6770"/>
                </a:solidFill>
                <a:latin typeface="Calibri" pitchFamily="34" charset="0"/>
                <a:ea typeface="Calibri" pitchFamily="34" charset="-122"/>
                <a:cs typeface="Calibri" pitchFamily="34" charset="-120"/>
              </a:rPr>
              <a:t>System evaluates data against city rules/thresholds</a:t>
            </a:r>
            <a:endParaRPr lang="en-US" sz="850" dirty="0"/>
          </a:p>
        </p:txBody>
      </p:sp>
      <p:sp>
        <p:nvSpPr>
          <p:cNvPr id="46" name="Shape 38"/>
          <p:cNvSpPr/>
          <p:nvPr/>
        </p:nvSpPr>
        <p:spPr>
          <a:xfrm>
            <a:off x="5385816" y="4832604"/>
            <a:ext cx="164592" cy="164592"/>
          </a:xfrm>
          <a:prstGeom prst="leftArrow">
            <a:avLst/>
          </a:prstGeom>
          <a:solidFill>
            <a:srgbClr val="17C3B2"/>
          </a:solidFill>
          <a:ln/>
        </p:spPr>
      </p:sp>
      <p:sp>
        <p:nvSpPr>
          <p:cNvPr id="47" name="Shape 39"/>
          <p:cNvSpPr/>
          <p:nvPr/>
        </p:nvSpPr>
        <p:spPr>
          <a:xfrm>
            <a:off x="3035808" y="4069080"/>
            <a:ext cx="2331720" cy="1691640"/>
          </a:xfrm>
          <a:prstGeom prst="roundRect">
            <a:avLst>
              <a:gd name="adj" fmla="val 4324"/>
            </a:avLst>
          </a:prstGeom>
          <a:solidFill>
            <a:srgbClr val="FFFFFF"/>
          </a:solidFill>
          <a:ln w="12700">
            <a:solidFill>
              <a:srgbClr val="D8E1EA"/>
            </a:solidFill>
            <a:prstDash val="solid"/>
          </a:ln>
          <a:effectLst>
            <a:outerShdw blurRad="76200" dist="25400" dir="5400000" algn="bl" rotWithShape="0">
              <a:srgbClr val="1F3B5A">
                <a:alpha val="15000"/>
              </a:srgbClr>
            </a:outerShdw>
          </a:effectLst>
        </p:spPr>
      </p:sp>
      <p:sp>
        <p:nvSpPr>
          <p:cNvPr id="48" name="Shape 40"/>
          <p:cNvSpPr/>
          <p:nvPr/>
        </p:nvSpPr>
        <p:spPr>
          <a:xfrm>
            <a:off x="3872484" y="4215384"/>
            <a:ext cx="658368" cy="658368"/>
          </a:xfrm>
          <a:prstGeom prst="ellipse">
            <a:avLst/>
          </a:prstGeom>
          <a:solidFill>
            <a:srgbClr val="2E86C1"/>
          </a:solidFill>
          <a:ln/>
        </p:spPr>
      </p:sp>
      <p:pic>
        <p:nvPicPr>
          <p:cNvPr id="49" name="Image 6" descr="/home/claude/cv_smart_cities/icons/action.png"/>
          <p:cNvPicPr>
            <a:picLocks noChangeAspect="1"/>
          </p:cNvPicPr>
          <p:nvPr/>
        </p:nvPicPr>
        <p:blipFill>
          <a:blip r:embed="rId9"/>
          <a:stretch>
            <a:fillRect/>
          </a:stretch>
        </p:blipFill>
        <p:spPr>
          <a:xfrm>
            <a:off x="4000500" y="4343400"/>
            <a:ext cx="402336" cy="402336"/>
          </a:xfrm>
          <a:prstGeom prst="rect">
            <a:avLst/>
          </a:prstGeom>
        </p:spPr>
      </p:pic>
      <p:sp>
        <p:nvSpPr>
          <p:cNvPr id="50" name="Text 41"/>
          <p:cNvSpPr/>
          <p:nvPr/>
        </p:nvSpPr>
        <p:spPr>
          <a:xfrm>
            <a:off x="2962656" y="3959352"/>
            <a:ext cx="365760" cy="365760"/>
          </a:xfrm>
          <a:prstGeom prst="ellipse">
            <a:avLst/>
          </a:prstGeom>
          <a:solidFill>
            <a:srgbClr val="13294B"/>
          </a:solid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51" name="Text 42"/>
          <p:cNvSpPr/>
          <p:nvPr/>
        </p:nvSpPr>
        <p:spPr>
          <a:xfrm>
            <a:off x="3090672" y="4937760"/>
            <a:ext cx="2221992" cy="457200"/>
          </a:xfrm>
          <a:prstGeom prst="rect">
            <a:avLst/>
          </a:prstGeom>
          <a:noFill/>
          <a:ln/>
        </p:spPr>
        <p:txBody>
          <a:bodyPr wrap="square" rtlCol="0" anchor="t"/>
          <a:lstStyle/>
          <a:p>
            <a:pPr marL="0" indent="0" algn="ctr">
              <a:buNone/>
            </a:pPr>
            <a:r>
              <a:rPr lang="en-US" sz="1150" b="1" dirty="0">
                <a:solidFill>
                  <a:srgbClr val="13294B"/>
                </a:solidFill>
                <a:latin typeface="Calibri" pitchFamily="34" charset="0"/>
                <a:ea typeface="Calibri" pitchFamily="34" charset="-122"/>
                <a:cs typeface="Calibri" pitchFamily="34" charset="-120"/>
              </a:rPr>
              <a:t>Smart City Action</a:t>
            </a:r>
            <a:endParaRPr lang="en-US" sz="1150" dirty="0"/>
          </a:p>
        </p:txBody>
      </p:sp>
      <p:sp>
        <p:nvSpPr>
          <p:cNvPr id="52" name="Text 43"/>
          <p:cNvSpPr/>
          <p:nvPr/>
        </p:nvSpPr>
        <p:spPr>
          <a:xfrm>
            <a:off x="3127248" y="5349240"/>
            <a:ext cx="2148840" cy="384048"/>
          </a:xfrm>
          <a:prstGeom prst="rect">
            <a:avLst/>
          </a:prstGeom>
          <a:noFill/>
          <a:ln/>
        </p:spPr>
        <p:txBody>
          <a:bodyPr wrap="square" rtlCol="0" anchor="t"/>
          <a:lstStyle/>
          <a:p>
            <a:pPr marL="0" indent="0" algn="ctr">
              <a:buNone/>
            </a:pPr>
            <a:r>
              <a:rPr lang="en-US" sz="850" dirty="0">
                <a:solidFill>
                  <a:srgbClr val="5B6770"/>
                </a:solidFill>
                <a:latin typeface="Calibri" pitchFamily="34" charset="0"/>
                <a:ea typeface="Calibri" pitchFamily="34" charset="-122"/>
                <a:cs typeface="Calibri" pitchFamily="34" charset="-120"/>
              </a:rPr>
              <a:t>Triggers alert, signal change, or automated response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200" dirty="0">
                <a:solidFill>
                  <a:srgbClr val="2E86C1"/>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02920" y="658368"/>
            <a:ext cx="10607040" cy="640080"/>
          </a:xfrm>
          <a:prstGeom prst="rect">
            <a:avLst/>
          </a:prstGeom>
          <a:noFill/>
          <a:ln/>
        </p:spPr>
        <p:txBody>
          <a:bodyPr wrap="square" rtlCol="0" anchor="ctr"/>
          <a:lstStyle/>
          <a:p>
            <a:pPr marL="0" indent="0">
              <a:buNone/>
            </a:pPr>
            <a:r>
              <a:rPr lang="en-US" sz="3000" b="1" dirty="0">
                <a:solidFill>
                  <a:srgbClr val="13294B"/>
                </a:solidFill>
                <a:latin typeface="Cambria" pitchFamily="34" charset="0"/>
                <a:ea typeface="Cambria" pitchFamily="34" charset="-122"/>
                <a:cs typeface="Cambria" pitchFamily="34" charset="-120"/>
              </a:rPr>
              <a:t>Problems Faced by Smart Cities</a:t>
            </a:r>
            <a:endParaRPr lang="en-US" sz="3000" dirty="0"/>
          </a:p>
        </p:txBody>
      </p:sp>
      <p:sp>
        <p:nvSpPr>
          <p:cNvPr id="4" name="Text 2"/>
          <p:cNvSpPr/>
          <p:nvPr/>
        </p:nvSpPr>
        <p:spPr>
          <a:xfrm>
            <a:off x="11365992" y="6446520"/>
            <a:ext cx="548640" cy="274320"/>
          </a:xfrm>
          <a:prstGeom prst="rect">
            <a:avLst/>
          </a:prstGeom>
          <a:noFill/>
          <a:ln/>
        </p:spPr>
        <p:txBody>
          <a:bodyPr wrap="square" rtlCol="0" anchor="ctr"/>
          <a:lstStyle/>
          <a:p>
            <a:pPr marL="0" indent="0" algn="r">
              <a:buNone/>
            </a:pPr>
            <a:r>
              <a:rPr lang="en-US" sz="1000" dirty="0">
                <a:solidFill>
                  <a:srgbClr val="A9B4BD"/>
                </a:solidFill>
                <a:latin typeface="Calibri" pitchFamily="34" charset="0"/>
                <a:ea typeface="Calibri" pitchFamily="34" charset="-122"/>
                <a:cs typeface="Calibri" pitchFamily="34" charset="-120"/>
              </a:rPr>
              <a:t>04</a:t>
            </a:r>
            <a:endParaRPr lang="en-US" sz="1000" dirty="0"/>
          </a:p>
        </p:txBody>
      </p:sp>
      <p:sp>
        <p:nvSpPr>
          <p:cNvPr id="5" name="Shape 3"/>
          <p:cNvSpPr/>
          <p:nvPr/>
        </p:nvSpPr>
        <p:spPr>
          <a:xfrm>
            <a:off x="548640" y="1691640"/>
            <a:ext cx="3611880" cy="2148840"/>
          </a:xfrm>
          <a:prstGeom prst="roundRect">
            <a:avLst>
              <a:gd name="adj" fmla="val 4255"/>
            </a:avLst>
          </a:prstGeom>
          <a:solidFill>
            <a:srgbClr val="FFFFFF"/>
          </a:solidFill>
          <a:ln w="12700">
            <a:solidFill>
              <a:srgbClr val="E3E9EF"/>
            </a:solidFill>
            <a:prstDash val="solid"/>
          </a:ln>
          <a:effectLst>
            <a:outerShdw blurRad="63500" dist="25400" dir="5400000" algn="bl" rotWithShape="0">
              <a:srgbClr val="1F3B5A">
                <a:alpha val="12000"/>
              </a:srgbClr>
            </a:outerShdw>
          </a:effectLst>
        </p:spPr>
      </p:sp>
      <p:sp>
        <p:nvSpPr>
          <p:cNvPr id="6" name="Shape 4"/>
          <p:cNvSpPr/>
          <p:nvPr/>
        </p:nvSpPr>
        <p:spPr>
          <a:xfrm>
            <a:off x="845820" y="2377440"/>
            <a:ext cx="777240" cy="777240"/>
          </a:xfrm>
          <a:prstGeom prst="ellipse">
            <a:avLst/>
          </a:prstGeom>
          <a:solidFill>
            <a:srgbClr val="FBEAEA"/>
          </a:solidFill>
          <a:ln/>
        </p:spPr>
      </p:sp>
      <p:pic>
        <p:nvPicPr>
          <p:cNvPr id="7" name="Image 0" descr="/home/claude/cv_smart_cities/icons/traffic.png"/>
          <p:cNvPicPr>
            <a:picLocks noChangeAspect="1"/>
          </p:cNvPicPr>
          <p:nvPr/>
        </p:nvPicPr>
        <p:blipFill>
          <a:blip r:embed="rId3"/>
          <a:stretch>
            <a:fillRect/>
          </a:stretch>
        </p:blipFill>
        <p:spPr>
          <a:xfrm>
            <a:off x="1020699" y="2552319"/>
            <a:ext cx="427482" cy="427482"/>
          </a:xfrm>
          <a:prstGeom prst="rect">
            <a:avLst/>
          </a:prstGeom>
        </p:spPr>
      </p:pic>
      <p:sp>
        <p:nvSpPr>
          <p:cNvPr id="8" name="Text 5"/>
          <p:cNvSpPr/>
          <p:nvPr/>
        </p:nvSpPr>
        <p:spPr>
          <a:xfrm>
            <a:off x="1737360" y="2011680"/>
            <a:ext cx="2240280" cy="457200"/>
          </a:xfrm>
          <a:prstGeom prst="rect">
            <a:avLst/>
          </a:prstGeom>
          <a:noFill/>
          <a:ln/>
        </p:spPr>
        <p:txBody>
          <a:bodyPr wrap="square" rtlCol="0" anchor="b"/>
          <a:lstStyle/>
          <a:p>
            <a:pPr marL="0" indent="0">
              <a:buNone/>
            </a:pPr>
            <a:r>
              <a:rPr lang="en-US" sz="1400" b="1" dirty="0">
                <a:solidFill>
                  <a:srgbClr val="13294B"/>
                </a:solidFill>
                <a:latin typeface="Calibri" pitchFamily="34" charset="0"/>
                <a:ea typeface="Calibri" pitchFamily="34" charset="-122"/>
                <a:cs typeface="Calibri" pitchFamily="34" charset="-120"/>
              </a:rPr>
              <a:t>Traffic Congestion</a:t>
            </a:r>
            <a:endParaRPr lang="en-US" sz="1400" dirty="0"/>
          </a:p>
        </p:txBody>
      </p:sp>
      <p:sp>
        <p:nvSpPr>
          <p:cNvPr id="9" name="Text 6"/>
          <p:cNvSpPr/>
          <p:nvPr/>
        </p:nvSpPr>
        <p:spPr>
          <a:xfrm>
            <a:off x="1737360" y="2514600"/>
            <a:ext cx="2240280" cy="1097280"/>
          </a:xfrm>
          <a:prstGeom prst="rect">
            <a:avLst/>
          </a:prstGeom>
          <a:noFill/>
          <a:ln/>
        </p:spPr>
        <p:txBody>
          <a:bodyPr wrap="square" rtlCol="0" anchor="t"/>
          <a:lstStyle/>
          <a:p>
            <a:pPr marL="0" indent="0">
              <a:lnSpc>
                <a:spcPct val="110000"/>
              </a:lnSpc>
              <a:buNone/>
            </a:pPr>
            <a:r>
              <a:rPr lang="en-US" sz="1050" dirty="0">
                <a:solidFill>
                  <a:srgbClr val="5B6770"/>
                </a:solidFill>
                <a:latin typeface="Calibri" pitchFamily="34" charset="0"/>
                <a:ea typeface="Calibri" pitchFamily="34" charset="-122"/>
                <a:cs typeface="Calibri" pitchFamily="34" charset="-120"/>
              </a:rPr>
              <a:t>Overloaded roads &amp; long commute delays</a:t>
            </a:r>
            <a:endParaRPr lang="en-US" sz="1050" dirty="0"/>
          </a:p>
        </p:txBody>
      </p:sp>
      <p:sp>
        <p:nvSpPr>
          <p:cNvPr id="10" name="Shape 7"/>
          <p:cNvSpPr/>
          <p:nvPr/>
        </p:nvSpPr>
        <p:spPr>
          <a:xfrm>
            <a:off x="4343400" y="1691640"/>
            <a:ext cx="3611880" cy="2148840"/>
          </a:xfrm>
          <a:prstGeom prst="roundRect">
            <a:avLst>
              <a:gd name="adj" fmla="val 4255"/>
            </a:avLst>
          </a:prstGeom>
          <a:solidFill>
            <a:srgbClr val="FFFFFF"/>
          </a:solidFill>
          <a:ln w="12700">
            <a:solidFill>
              <a:srgbClr val="E3E9EF"/>
            </a:solidFill>
            <a:prstDash val="solid"/>
          </a:ln>
          <a:effectLst>
            <a:outerShdw blurRad="63500" dist="25400" dir="5400000" algn="bl" rotWithShape="0">
              <a:srgbClr val="1F3B5A">
                <a:alpha val="12000"/>
              </a:srgbClr>
            </a:outerShdw>
          </a:effectLst>
        </p:spPr>
      </p:sp>
      <p:sp>
        <p:nvSpPr>
          <p:cNvPr id="11" name="Shape 8"/>
          <p:cNvSpPr/>
          <p:nvPr/>
        </p:nvSpPr>
        <p:spPr>
          <a:xfrm>
            <a:off x="4640580" y="2377440"/>
            <a:ext cx="777240" cy="777240"/>
          </a:xfrm>
          <a:prstGeom prst="ellipse">
            <a:avLst/>
          </a:prstGeom>
          <a:solidFill>
            <a:srgbClr val="FBEAEA"/>
          </a:solidFill>
          <a:ln/>
        </p:spPr>
      </p:sp>
      <p:pic>
        <p:nvPicPr>
          <p:cNvPr id="12" name="Image 1" descr="/home/claude/cv_smart_cities/icons/accident.png"/>
          <p:cNvPicPr>
            <a:picLocks noChangeAspect="1"/>
          </p:cNvPicPr>
          <p:nvPr/>
        </p:nvPicPr>
        <p:blipFill>
          <a:blip r:embed="rId4"/>
          <a:stretch>
            <a:fillRect/>
          </a:stretch>
        </p:blipFill>
        <p:spPr>
          <a:xfrm>
            <a:off x="4815459" y="2552319"/>
            <a:ext cx="427482" cy="427482"/>
          </a:xfrm>
          <a:prstGeom prst="rect">
            <a:avLst/>
          </a:prstGeom>
        </p:spPr>
      </p:pic>
      <p:sp>
        <p:nvSpPr>
          <p:cNvPr id="13" name="Text 9"/>
          <p:cNvSpPr/>
          <p:nvPr/>
        </p:nvSpPr>
        <p:spPr>
          <a:xfrm>
            <a:off x="5532120" y="2011680"/>
            <a:ext cx="2240280" cy="457200"/>
          </a:xfrm>
          <a:prstGeom prst="rect">
            <a:avLst/>
          </a:prstGeom>
          <a:noFill/>
          <a:ln/>
        </p:spPr>
        <p:txBody>
          <a:bodyPr wrap="square" rtlCol="0" anchor="b"/>
          <a:lstStyle/>
          <a:p>
            <a:pPr marL="0" indent="0">
              <a:buNone/>
            </a:pPr>
            <a:r>
              <a:rPr lang="en-US" sz="1400" b="1" dirty="0">
                <a:solidFill>
                  <a:srgbClr val="13294B"/>
                </a:solidFill>
                <a:latin typeface="Calibri" pitchFamily="34" charset="0"/>
                <a:ea typeface="Calibri" pitchFamily="34" charset="-122"/>
                <a:cs typeface="Calibri" pitchFamily="34" charset="-120"/>
              </a:rPr>
              <a:t>Road Accidents</a:t>
            </a:r>
            <a:endParaRPr lang="en-US" sz="1400" dirty="0"/>
          </a:p>
        </p:txBody>
      </p:sp>
      <p:sp>
        <p:nvSpPr>
          <p:cNvPr id="14" name="Text 10"/>
          <p:cNvSpPr/>
          <p:nvPr/>
        </p:nvSpPr>
        <p:spPr>
          <a:xfrm>
            <a:off x="5532120" y="2514600"/>
            <a:ext cx="2240280" cy="1097280"/>
          </a:xfrm>
          <a:prstGeom prst="rect">
            <a:avLst/>
          </a:prstGeom>
          <a:noFill/>
          <a:ln/>
        </p:spPr>
        <p:txBody>
          <a:bodyPr wrap="square" rtlCol="0" anchor="t"/>
          <a:lstStyle/>
          <a:p>
            <a:pPr marL="0" indent="0">
              <a:lnSpc>
                <a:spcPct val="110000"/>
              </a:lnSpc>
              <a:buNone/>
            </a:pPr>
            <a:r>
              <a:rPr lang="en-US" sz="1050" dirty="0">
                <a:solidFill>
                  <a:srgbClr val="5B6770"/>
                </a:solidFill>
                <a:latin typeface="Calibri" pitchFamily="34" charset="0"/>
                <a:ea typeface="Calibri" pitchFamily="34" charset="-122"/>
                <a:cs typeface="Calibri" pitchFamily="34" charset="-120"/>
              </a:rPr>
              <a:t>Delayed detection of collisions &amp; hazards</a:t>
            </a:r>
            <a:endParaRPr lang="en-US" sz="1050" dirty="0"/>
          </a:p>
        </p:txBody>
      </p:sp>
      <p:sp>
        <p:nvSpPr>
          <p:cNvPr id="15" name="Shape 11"/>
          <p:cNvSpPr/>
          <p:nvPr/>
        </p:nvSpPr>
        <p:spPr>
          <a:xfrm>
            <a:off x="8138160" y="1691640"/>
            <a:ext cx="3611880" cy="2148840"/>
          </a:xfrm>
          <a:prstGeom prst="roundRect">
            <a:avLst>
              <a:gd name="adj" fmla="val 4255"/>
            </a:avLst>
          </a:prstGeom>
          <a:solidFill>
            <a:srgbClr val="FFFFFF"/>
          </a:solidFill>
          <a:ln w="12700">
            <a:solidFill>
              <a:srgbClr val="E3E9EF"/>
            </a:solidFill>
            <a:prstDash val="solid"/>
          </a:ln>
          <a:effectLst>
            <a:outerShdw blurRad="63500" dist="25400" dir="5400000" algn="bl" rotWithShape="0">
              <a:srgbClr val="1F3B5A">
                <a:alpha val="12000"/>
              </a:srgbClr>
            </a:outerShdw>
          </a:effectLst>
        </p:spPr>
      </p:sp>
      <p:sp>
        <p:nvSpPr>
          <p:cNvPr id="16" name="Shape 12"/>
          <p:cNvSpPr/>
          <p:nvPr/>
        </p:nvSpPr>
        <p:spPr>
          <a:xfrm>
            <a:off x="8435340" y="2377440"/>
            <a:ext cx="777240" cy="777240"/>
          </a:xfrm>
          <a:prstGeom prst="ellipse">
            <a:avLst/>
          </a:prstGeom>
          <a:solidFill>
            <a:srgbClr val="FBEAEA"/>
          </a:solidFill>
          <a:ln/>
        </p:spPr>
      </p:sp>
      <p:pic>
        <p:nvPicPr>
          <p:cNvPr id="17" name="Image 2" descr="/home/claude/cv_smart_cities/icons/safety.png"/>
          <p:cNvPicPr>
            <a:picLocks noChangeAspect="1"/>
          </p:cNvPicPr>
          <p:nvPr/>
        </p:nvPicPr>
        <p:blipFill>
          <a:blip r:embed="rId5"/>
          <a:stretch>
            <a:fillRect/>
          </a:stretch>
        </p:blipFill>
        <p:spPr>
          <a:xfrm>
            <a:off x="8610219" y="2552319"/>
            <a:ext cx="427482" cy="427482"/>
          </a:xfrm>
          <a:prstGeom prst="rect">
            <a:avLst/>
          </a:prstGeom>
        </p:spPr>
      </p:pic>
      <p:sp>
        <p:nvSpPr>
          <p:cNvPr id="18" name="Text 13"/>
          <p:cNvSpPr/>
          <p:nvPr/>
        </p:nvSpPr>
        <p:spPr>
          <a:xfrm>
            <a:off x="9326880" y="2011680"/>
            <a:ext cx="2240280" cy="457200"/>
          </a:xfrm>
          <a:prstGeom prst="rect">
            <a:avLst/>
          </a:prstGeom>
          <a:noFill/>
          <a:ln/>
        </p:spPr>
        <p:txBody>
          <a:bodyPr wrap="square" rtlCol="0" anchor="b"/>
          <a:lstStyle/>
          <a:p>
            <a:pPr marL="0" indent="0">
              <a:buNone/>
            </a:pPr>
            <a:r>
              <a:rPr lang="en-US" sz="1400" b="1" dirty="0">
                <a:solidFill>
                  <a:srgbClr val="13294B"/>
                </a:solidFill>
                <a:latin typeface="Calibri" pitchFamily="34" charset="0"/>
                <a:ea typeface="Calibri" pitchFamily="34" charset="-122"/>
                <a:cs typeface="Calibri" pitchFamily="34" charset="-120"/>
              </a:rPr>
              <a:t>Public Safety</a:t>
            </a:r>
            <a:endParaRPr lang="en-US" sz="1400" dirty="0"/>
          </a:p>
        </p:txBody>
      </p:sp>
      <p:sp>
        <p:nvSpPr>
          <p:cNvPr id="19" name="Text 14"/>
          <p:cNvSpPr/>
          <p:nvPr/>
        </p:nvSpPr>
        <p:spPr>
          <a:xfrm>
            <a:off x="9326880" y="2514600"/>
            <a:ext cx="2240280" cy="1097280"/>
          </a:xfrm>
          <a:prstGeom prst="rect">
            <a:avLst/>
          </a:prstGeom>
          <a:noFill/>
          <a:ln/>
        </p:spPr>
        <p:txBody>
          <a:bodyPr wrap="square" rtlCol="0" anchor="t"/>
          <a:lstStyle/>
          <a:p>
            <a:pPr marL="0" indent="0">
              <a:lnSpc>
                <a:spcPct val="110000"/>
              </a:lnSpc>
              <a:buNone/>
            </a:pPr>
            <a:r>
              <a:rPr lang="en-US" sz="1050" dirty="0">
                <a:solidFill>
                  <a:srgbClr val="5B6770"/>
                </a:solidFill>
                <a:latin typeface="Calibri" pitchFamily="34" charset="0"/>
                <a:ea typeface="Calibri" pitchFamily="34" charset="-122"/>
                <a:cs typeface="Calibri" pitchFamily="34" charset="-120"/>
              </a:rPr>
              <a:t>Limited real-time monitoring of crime &amp; crowds</a:t>
            </a:r>
            <a:endParaRPr lang="en-US" sz="1050" dirty="0"/>
          </a:p>
        </p:txBody>
      </p:sp>
      <p:sp>
        <p:nvSpPr>
          <p:cNvPr id="20" name="Shape 15"/>
          <p:cNvSpPr/>
          <p:nvPr/>
        </p:nvSpPr>
        <p:spPr>
          <a:xfrm>
            <a:off x="548640" y="4069080"/>
            <a:ext cx="3611880" cy="2148840"/>
          </a:xfrm>
          <a:prstGeom prst="roundRect">
            <a:avLst>
              <a:gd name="adj" fmla="val 4255"/>
            </a:avLst>
          </a:prstGeom>
          <a:solidFill>
            <a:srgbClr val="FFFFFF"/>
          </a:solidFill>
          <a:ln w="12700">
            <a:solidFill>
              <a:srgbClr val="E3E9EF"/>
            </a:solidFill>
            <a:prstDash val="solid"/>
          </a:ln>
          <a:effectLst>
            <a:outerShdw blurRad="63500" dist="25400" dir="5400000" algn="bl" rotWithShape="0">
              <a:srgbClr val="1F3B5A">
                <a:alpha val="12000"/>
              </a:srgbClr>
            </a:outerShdw>
          </a:effectLst>
        </p:spPr>
      </p:sp>
      <p:sp>
        <p:nvSpPr>
          <p:cNvPr id="21" name="Shape 16"/>
          <p:cNvSpPr/>
          <p:nvPr/>
        </p:nvSpPr>
        <p:spPr>
          <a:xfrm>
            <a:off x="845820" y="4754880"/>
            <a:ext cx="777240" cy="777240"/>
          </a:xfrm>
          <a:prstGeom prst="ellipse">
            <a:avLst/>
          </a:prstGeom>
          <a:solidFill>
            <a:srgbClr val="FBEAEA"/>
          </a:solidFill>
          <a:ln/>
        </p:spPr>
      </p:sp>
      <p:pic>
        <p:nvPicPr>
          <p:cNvPr id="22" name="Image 3" descr="/home/claude/cv_smart_cities/icons/parking.png"/>
          <p:cNvPicPr>
            <a:picLocks noChangeAspect="1"/>
          </p:cNvPicPr>
          <p:nvPr/>
        </p:nvPicPr>
        <p:blipFill>
          <a:blip r:embed="rId6"/>
          <a:stretch>
            <a:fillRect/>
          </a:stretch>
        </p:blipFill>
        <p:spPr>
          <a:xfrm>
            <a:off x="1020699" y="4929759"/>
            <a:ext cx="427482" cy="427482"/>
          </a:xfrm>
          <a:prstGeom prst="rect">
            <a:avLst/>
          </a:prstGeom>
        </p:spPr>
      </p:pic>
      <p:sp>
        <p:nvSpPr>
          <p:cNvPr id="23" name="Text 17"/>
          <p:cNvSpPr/>
          <p:nvPr/>
        </p:nvSpPr>
        <p:spPr>
          <a:xfrm>
            <a:off x="1737360" y="4389120"/>
            <a:ext cx="2240280" cy="457200"/>
          </a:xfrm>
          <a:prstGeom prst="rect">
            <a:avLst/>
          </a:prstGeom>
          <a:noFill/>
          <a:ln/>
        </p:spPr>
        <p:txBody>
          <a:bodyPr wrap="square" rtlCol="0" anchor="b"/>
          <a:lstStyle/>
          <a:p>
            <a:pPr marL="0" indent="0">
              <a:buNone/>
            </a:pPr>
            <a:r>
              <a:rPr lang="en-US" sz="1400" b="1" dirty="0">
                <a:solidFill>
                  <a:srgbClr val="13294B"/>
                </a:solidFill>
                <a:latin typeface="Calibri" pitchFamily="34" charset="0"/>
                <a:ea typeface="Calibri" pitchFamily="34" charset="-122"/>
                <a:cs typeface="Calibri" pitchFamily="34" charset="-120"/>
              </a:rPr>
              <a:t>Illegal Parking</a:t>
            </a:r>
            <a:endParaRPr lang="en-US" sz="1400" dirty="0"/>
          </a:p>
        </p:txBody>
      </p:sp>
      <p:sp>
        <p:nvSpPr>
          <p:cNvPr id="24" name="Text 18"/>
          <p:cNvSpPr/>
          <p:nvPr/>
        </p:nvSpPr>
        <p:spPr>
          <a:xfrm>
            <a:off x="1737360" y="4892040"/>
            <a:ext cx="2240280" cy="1097280"/>
          </a:xfrm>
          <a:prstGeom prst="rect">
            <a:avLst/>
          </a:prstGeom>
          <a:noFill/>
          <a:ln/>
        </p:spPr>
        <p:txBody>
          <a:bodyPr wrap="square" rtlCol="0" anchor="t"/>
          <a:lstStyle/>
          <a:p>
            <a:pPr marL="0" indent="0">
              <a:lnSpc>
                <a:spcPct val="110000"/>
              </a:lnSpc>
              <a:buNone/>
            </a:pPr>
            <a:r>
              <a:rPr lang="en-US" sz="1050" dirty="0">
                <a:solidFill>
                  <a:srgbClr val="5B6770"/>
                </a:solidFill>
                <a:latin typeface="Calibri" pitchFamily="34" charset="0"/>
                <a:ea typeface="Calibri" pitchFamily="34" charset="-122"/>
                <a:cs typeface="Calibri" pitchFamily="34" charset="-120"/>
              </a:rPr>
              <a:t>Unauthorized parking blocking roads &amp; lanes</a:t>
            </a:r>
            <a:endParaRPr lang="en-US" sz="1050" dirty="0"/>
          </a:p>
        </p:txBody>
      </p:sp>
      <p:sp>
        <p:nvSpPr>
          <p:cNvPr id="25" name="Shape 19"/>
          <p:cNvSpPr/>
          <p:nvPr/>
        </p:nvSpPr>
        <p:spPr>
          <a:xfrm>
            <a:off x="4343400" y="4069080"/>
            <a:ext cx="3611880" cy="2148840"/>
          </a:xfrm>
          <a:prstGeom prst="roundRect">
            <a:avLst>
              <a:gd name="adj" fmla="val 4255"/>
            </a:avLst>
          </a:prstGeom>
          <a:solidFill>
            <a:srgbClr val="FFFFFF"/>
          </a:solidFill>
          <a:ln w="12700">
            <a:solidFill>
              <a:srgbClr val="E3E9EF"/>
            </a:solidFill>
            <a:prstDash val="solid"/>
          </a:ln>
          <a:effectLst>
            <a:outerShdw blurRad="63500" dist="25400" dir="5400000" algn="bl" rotWithShape="0">
              <a:srgbClr val="1F3B5A">
                <a:alpha val="12000"/>
              </a:srgbClr>
            </a:outerShdw>
          </a:effectLst>
        </p:spPr>
      </p:sp>
      <p:sp>
        <p:nvSpPr>
          <p:cNvPr id="26" name="Shape 20"/>
          <p:cNvSpPr/>
          <p:nvPr/>
        </p:nvSpPr>
        <p:spPr>
          <a:xfrm>
            <a:off x="4640580" y="4754880"/>
            <a:ext cx="777240" cy="777240"/>
          </a:xfrm>
          <a:prstGeom prst="ellipse">
            <a:avLst/>
          </a:prstGeom>
          <a:solidFill>
            <a:srgbClr val="FBEAEA"/>
          </a:solidFill>
          <a:ln/>
        </p:spPr>
      </p:sp>
      <p:pic>
        <p:nvPicPr>
          <p:cNvPr id="27" name="Image 4" descr="/home/claude/cv_smart_cities/icons/waste.png"/>
          <p:cNvPicPr>
            <a:picLocks noChangeAspect="1"/>
          </p:cNvPicPr>
          <p:nvPr/>
        </p:nvPicPr>
        <p:blipFill>
          <a:blip r:embed="rId7"/>
          <a:stretch>
            <a:fillRect/>
          </a:stretch>
        </p:blipFill>
        <p:spPr>
          <a:xfrm>
            <a:off x="4815459" y="4929759"/>
            <a:ext cx="427482" cy="427482"/>
          </a:xfrm>
          <a:prstGeom prst="rect">
            <a:avLst/>
          </a:prstGeom>
        </p:spPr>
      </p:pic>
      <p:sp>
        <p:nvSpPr>
          <p:cNvPr id="28" name="Text 21"/>
          <p:cNvSpPr/>
          <p:nvPr/>
        </p:nvSpPr>
        <p:spPr>
          <a:xfrm>
            <a:off x="5532120" y="4389120"/>
            <a:ext cx="2240280" cy="457200"/>
          </a:xfrm>
          <a:prstGeom prst="rect">
            <a:avLst/>
          </a:prstGeom>
          <a:noFill/>
          <a:ln/>
        </p:spPr>
        <p:txBody>
          <a:bodyPr wrap="square" rtlCol="0" anchor="b"/>
          <a:lstStyle/>
          <a:p>
            <a:pPr marL="0" indent="0">
              <a:buNone/>
            </a:pPr>
            <a:r>
              <a:rPr lang="en-US" sz="1400" b="1" dirty="0">
                <a:solidFill>
                  <a:srgbClr val="13294B"/>
                </a:solidFill>
                <a:latin typeface="Calibri" pitchFamily="34" charset="0"/>
                <a:ea typeface="Calibri" pitchFamily="34" charset="-122"/>
                <a:cs typeface="Calibri" pitchFamily="34" charset="-120"/>
              </a:rPr>
              <a:t>Waste Management</a:t>
            </a:r>
            <a:endParaRPr lang="en-US" sz="1400" dirty="0"/>
          </a:p>
        </p:txBody>
      </p:sp>
      <p:sp>
        <p:nvSpPr>
          <p:cNvPr id="29" name="Text 22"/>
          <p:cNvSpPr/>
          <p:nvPr/>
        </p:nvSpPr>
        <p:spPr>
          <a:xfrm>
            <a:off x="5532120" y="4892040"/>
            <a:ext cx="2240280" cy="1097280"/>
          </a:xfrm>
          <a:prstGeom prst="rect">
            <a:avLst/>
          </a:prstGeom>
          <a:noFill/>
          <a:ln/>
        </p:spPr>
        <p:txBody>
          <a:bodyPr wrap="square" rtlCol="0" anchor="t"/>
          <a:lstStyle/>
          <a:p>
            <a:pPr marL="0" indent="0">
              <a:lnSpc>
                <a:spcPct val="110000"/>
              </a:lnSpc>
              <a:buNone/>
            </a:pPr>
            <a:r>
              <a:rPr lang="en-US" sz="1050" dirty="0">
                <a:solidFill>
                  <a:srgbClr val="5B6770"/>
                </a:solidFill>
                <a:latin typeface="Calibri" pitchFamily="34" charset="0"/>
                <a:ea typeface="Calibri" pitchFamily="34" charset="-122"/>
                <a:cs typeface="Calibri" pitchFamily="34" charset="-120"/>
              </a:rPr>
              <a:t>Inefficient tracking of bin overflow &amp; collection</a:t>
            </a:r>
            <a:endParaRPr lang="en-US" sz="1050" dirty="0"/>
          </a:p>
        </p:txBody>
      </p:sp>
      <p:sp>
        <p:nvSpPr>
          <p:cNvPr id="30" name="Shape 23"/>
          <p:cNvSpPr/>
          <p:nvPr/>
        </p:nvSpPr>
        <p:spPr>
          <a:xfrm>
            <a:off x="8138160" y="4069080"/>
            <a:ext cx="3611880" cy="2148840"/>
          </a:xfrm>
          <a:prstGeom prst="roundRect">
            <a:avLst>
              <a:gd name="adj" fmla="val 4255"/>
            </a:avLst>
          </a:prstGeom>
          <a:solidFill>
            <a:srgbClr val="FFFFFF"/>
          </a:solidFill>
          <a:ln w="12700">
            <a:solidFill>
              <a:srgbClr val="E3E9EF"/>
            </a:solidFill>
            <a:prstDash val="solid"/>
          </a:ln>
          <a:effectLst>
            <a:outerShdw blurRad="63500" dist="25400" dir="5400000" algn="bl" rotWithShape="0">
              <a:srgbClr val="1F3B5A">
                <a:alpha val="12000"/>
              </a:srgbClr>
            </a:outerShdw>
          </a:effectLst>
        </p:spPr>
      </p:sp>
      <p:sp>
        <p:nvSpPr>
          <p:cNvPr id="31" name="Shape 24"/>
          <p:cNvSpPr/>
          <p:nvPr/>
        </p:nvSpPr>
        <p:spPr>
          <a:xfrm>
            <a:off x="8435340" y="4754880"/>
            <a:ext cx="777240" cy="777240"/>
          </a:xfrm>
          <a:prstGeom prst="ellipse">
            <a:avLst/>
          </a:prstGeom>
          <a:solidFill>
            <a:srgbClr val="FBEAEA"/>
          </a:solidFill>
          <a:ln/>
        </p:spPr>
      </p:sp>
      <p:pic>
        <p:nvPicPr>
          <p:cNvPr id="32" name="Image 5" descr="/home/claude/cv_smart_cities/icons/pollution.png"/>
          <p:cNvPicPr>
            <a:picLocks noChangeAspect="1"/>
          </p:cNvPicPr>
          <p:nvPr/>
        </p:nvPicPr>
        <p:blipFill>
          <a:blip r:embed="rId8"/>
          <a:stretch>
            <a:fillRect/>
          </a:stretch>
        </p:blipFill>
        <p:spPr>
          <a:xfrm>
            <a:off x="8610219" y="4929759"/>
            <a:ext cx="427482" cy="427482"/>
          </a:xfrm>
          <a:prstGeom prst="rect">
            <a:avLst/>
          </a:prstGeom>
        </p:spPr>
      </p:pic>
      <p:sp>
        <p:nvSpPr>
          <p:cNvPr id="33" name="Text 25"/>
          <p:cNvSpPr/>
          <p:nvPr/>
        </p:nvSpPr>
        <p:spPr>
          <a:xfrm>
            <a:off x="9326880" y="4389120"/>
            <a:ext cx="2240280" cy="457200"/>
          </a:xfrm>
          <a:prstGeom prst="rect">
            <a:avLst/>
          </a:prstGeom>
          <a:noFill/>
          <a:ln/>
        </p:spPr>
        <p:txBody>
          <a:bodyPr wrap="square" rtlCol="0" anchor="b"/>
          <a:lstStyle/>
          <a:p>
            <a:pPr marL="0" indent="0">
              <a:buNone/>
            </a:pPr>
            <a:r>
              <a:rPr lang="en-US" sz="1400" b="1" dirty="0">
                <a:solidFill>
                  <a:srgbClr val="13294B"/>
                </a:solidFill>
                <a:latin typeface="Calibri" pitchFamily="34" charset="0"/>
                <a:ea typeface="Calibri" pitchFamily="34" charset="-122"/>
                <a:cs typeface="Calibri" pitchFamily="34" charset="-120"/>
              </a:rPr>
              <a:t>Environmental Pollution</a:t>
            </a:r>
            <a:endParaRPr lang="en-US" sz="1400" dirty="0"/>
          </a:p>
        </p:txBody>
      </p:sp>
      <p:sp>
        <p:nvSpPr>
          <p:cNvPr id="34" name="Text 26"/>
          <p:cNvSpPr/>
          <p:nvPr/>
        </p:nvSpPr>
        <p:spPr>
          <a:xfrm>
            <a:off x="9326880" y="4892040"/>
            <a:ext cx="2240280" cy="1097280"/>
          </a:xfrm>
          <a:prstGeom prst="rect">
            <a:avLst/>
          </a:prstGeom>
          <a:noFill/>
          <a:ln/>
        </p:spPr>
        <p:txBody>
          <a:bodyPr wrap="square" rtlCol="0" anchor="t"/>
          <a:lstStyle/>
          <a:p>
            <a:pPr marL="0" indent="0">
              <a:lnSpc>
                <a:spcPct val="110000"/>
              </a:lnSpc>
              <a:buNone/>
            </a:pPr>
            <a:r>
              <a:rPr lang="en-US" sz="1050" dirty="0">
                <a:solidFill>
                  <a:srgbClr val="5B6770"/>
                </a:solidFill>
                <a:latin typeface="Calibri" pitchFamily="34" charset="0"/>
                <a:ea typeface="Calibri" pitchFamily="34" charset="-122"/>
                <a:cs typeface="Calibri" pitchFamily="34" charset="-120"/>
              </a:rPr>
              <a:t>Poor visibility into air quality &amp; emission sources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200" dirty="0">
                <a:solidFill>
                  <a:srgbClr val="2E86C1"/>
                </a:solidFill>
                <a:latin typeface="Calibri" pitchFamily="34" charset="0"/>
                <a:ea typeface="Calibri" pitchFamily="34" charset="-122"/>
                <a:cs typeface="Calibri" pitchFamily="34" charset="-120"/>
              </a:rPr>
              <a:t>THE RESPONSE</a:t>
            </a:r>
            <a:endParaRPr lang="en-US" sz="1200" dirty="0"/>
          </a:p>
        </p:txBody>
      </p:sp>
      <p:sp>
        <p:nvSpPr>
          <p:cNvPr id="3" name="Text 1"/>
          <p:cNvSpPr/>
          <p:nvPr/>
        </p:nvSpPr>
        <p:spPr>
          <a:xfrm>
            <a:off x="502920" y="658368"/>
            <a:ext cx="10607040" cy="640080"/>
          </a:xfrm>
          <a:prstGeom prst="rect">
            <a:avLst/>
          </a:prstGeom>
          <a:noFill/>
          <a:ln/>
        </p:spPr>
        <p:txBody>
          <a:bodyPr wrap="square" rtlCol="0" anchor="ctr"/>
          <a:lstStyle/>
          <a:p>
            <a:pPr marL="0" indent="0">
              <a:buNone/>
            </a:pPr>
            <a:r>
              <a:rPr lang="en-US" sz="3000" b="1" dirty="0">
                <a:solidFill>
                  <a:srgbClr val="13294B"/>
                </a:solidFill>
                <a:latin typeface="Cambria" pitchFamily="34" charset="0"/>
                <a:ea typeface="Cambria" pitchFamily="34" charset="-122"/>
                <a:cs typeface="Cambria" pitchFamily="34" charset="-120"/>
              </a:rPr>
              <a:t>Computer Vision Solutions</a:t>
            </a:r>
            <a:endParaRPr lang="en-US" sz="3000" dirty="0"/>
          </a:p>
        </p:txBody>
      </p:sp>
      <p:sp>
        <p:nvSpPr>
          <p:cNvPr id="4" name="Text 2"/>
          <p:cNvSpPr/>
          <p:nvPr/>
        </p:nvSpPr>
        <p:spPr>
          <a:xfrm>
            <a:off x="11365992" y="6446520"/>
            <a:ext cx="548640" cy="274320"/>
          </a:xfrm>
          <a:prstGeom prst="rect">
            <a:avLst/>
          </a:prstGeom>
          <a:noFill/>
          <a:ln/>
        </p:spPr>
        <p:txBody>
          <a:bodyPr wrap="square" rtlCol="0" anchor="ctr"/>
          <a:lstStyle/>
          <a:p>
            <a:pPr marL="0" indent="0" algn="r">
              <a:buNone/>
            </a:pPr>
            <a:r>
              <a:rPr lang="en-US" sz="1000" dirty="0">
                <a:solidFill>
                  <a:srgbClr val="A9B4BD"/>
                </a:solidFill>
                <a:latin typeface="Calibri" pitchFamily="34" charset="0"/>
                <a:ea typeface="Calibri" pitchFamily="34" charset="-122"/>
                <a:cs typeface="Calibri" pitchFamily="34" charset="-120"/>
              </a:rPr>
              <a:t>05</a:t>
            </a:r>
            <a:endParaRPr lang="en-US" sz="1000" dirty="0"/>
          </a:p>
        </p:txBody>
      </p:sp>
      <p:sp>
        <p:nvSpPr>
          <p:cNvPr id="5" name="Shape 3"/>
          <p:cNvSpPr/>
          <p:nvPr/>
        </p:nvSpPr>
        <p:spPr>
          <a:xfrm>
            <a:off x="548640" y="1691640"/>
            <a:ext cx="11064240" cy="502920"/>
          </a:xfrm>
          <a:prstGeom prst="roundRect">
            <a:avLst>
              <a:gd name="adj" fmla="val 10909"/>
            </a:avLst>
          </a:prstGeom>
          <a:solidFill>
            <a:srgbClr val="13294B"/>
          </a:solidFill>
          <a:ln/>
        </p:spPr>
      </p:sp>
      <p:sp>
        <p:nvSpPr>
          <p:cNvPr id="6" name="Text 4"/>
          <p:cNvSpPr/>
          <p:nvPr/>
        </p:nvSpPr>
        <p:spPr>
          <a:xfrm>
            <a:off x="822960" y="1691640"/>
            <a:ext cx="4646981"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PROBLEM</a:t>
            </a:r>
            <a:endParaRPr lang="en-US" sz="1300" dirty="0"/>
          </a:p>
        </p:txBody>
      </p:sp>
      <p:sp>
        <p:nvSpPr>
          <p:cNvPr id="7" name="Text 5"/>
          <p:cNvSpPr/>
          <p:nvPr/>
        </p:nvSpPr>
        <p:spPr>
          <a:xfrm>
            <a:off x="5638190" y="1691640"/>
            <a:ext cx="553212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COMPUTER VISION SOLUTION</a:t>
            </a:r>
            <a:endParaRPr lang="en-US" sz="1300" dirty="0"/>
          </a:p>
        </p:txBody>
      </p:sp>
      <p:sp>
        <p:nvSpPr>
          <p:cNvPr id="8" name="Shape 6"/>
          <p:cNvSpPr/>
          <p:nvPr/>
        </p:nvSpPr>
        <p:spPr>
          <a:xfrm>
            <a:off x="548640" y="2194560"/>
            <a:ext cx="11064240" cy="621792"/>
          </a:xfrm>
          <a:prstGeom prst="rect">
            <a:avLst/>
          </a:prstGeom>
          <a:solidFill>
            <a:srgbClr val="FFFFFF"/>
          </a:solidFill>
          <a:ln/>
        </p:spPr>
      </p:sp>
      <p:sp>
        <p:nvSpPr>
          <p:cNvPr id="9" name="Text 7"/>
          <p:cNvSpPr/>
          <p:nvPr/>
        </p:nvSpPr>
        <p:spPr>
          <a:xfrm>
            <a:off x="822960" y="2194560"/>
            <a:ext cx="4646981" cy="621792"/>
          </a:xfrm>
          <a:prstGeom prst="rect">
            <a:avLst/>
          </a:prstGeom>
          <a:noFill/>
          <a:ln/>
        </p:spPr>
        <p:txBody>
          <a:bodyPr wrap="square" rtlCol="0" anchor="ctr"/>
          <a:lstStyle/>
          <a:p>
            <a:pPr marL="0" indent="0">
              <a:buNone/>
            </a:pPr>
            <a:r>
              <a:rPr lang="en-US" sz="1200" b="1" dirty="0">
                <a:solidFill>
                  <a:srgbClr val="2C3539"/>
                </a:solidFill>
                <a:latin typeface="Calibri" pitchFamily="34" charset="0"/>
                <a:ea typeface="Calibri" pitchFamily="34" charset="-122"/>
                <a:cs typeface="Calibri" pitchFamily="34" charset="-120"/>
              </a:rPr>
              <a:t>Traffic Congestion</a:t>
            </a:r>
            <a:endParaRPr lang="en-US" sz="1200" dirty="0"/>
          </a:p>
        </p:txBody>
      </p:sp>
      <p:sp>
        <p:nvSpPr>
          <p:cNvPr id="10" name="Text 8"/>
          <p:cNvSpPr/>
          <p:nvPr/>
        </p:nvSpPr>
        <p:spPr>
          <a:xfrm>
            <a:off x="5638190" y="2194560"/>
            <a:ext cx="5532120" cy="621792"/>
          </a:xfrm>
          <a:prstGeom prst="rect">
            <a:avLst/>
          </a:prstGeom>
          <a:noFill/>
          <a:ln/>
        </p:spPr>
        <p:txBody>
          <a:bodyPr wrap="square" rtlCol="0" anchor="ctr"/>
          <a:lstStyle/>
          <a:p>
            <a:pPr marL="0" indent="0">
              <a:buNone/>
            </a:pPr>
            <a:r>
              <a:rPr lang="en-US" sz="1200" dirty="0">
                <a:solidFill>
                  <a:srgbClr val="2E86C1"/>
                </a:solidFill>
                <a:latin typeface="Calibri" pitchFamily="34" charset="0"/>
                <a:ea typeface="Calibri" pitchFamily="34" charset="-122"/>
                <a:cs typeface="Calibri" pitchFamily="34" charset="-120"/>
              </a:rPr>
              <a:t>Vehicle Detection &amp; Traffic Density Analysis</a:t>
            </a:r>
            <a:endParaRPr lang="en-US" sz="1200" dirty="0"/>
          </a:p>
        </p:txBody>
      </p:sp>
      <p:sp>
        <p:nvSpPr>
          <p:cNvPr id="11" name="Shape 9"/>
          <p:cNvSpPr/>
          <p:nvPr/>
        </p:nvSpPr>
        <p:spPr>
          <a:xfrm>
            <a:off x="548640" y="2816352"/>
            <a:ext cx="11064240" cy="621792"/>
          </a:xfrm>
          <a:prstGeom prst="rect">
            <a:avLst/>
          </a:prstGeom>
          <a:solidFill>
            <a:srgbClr val="EAF0F6"/>
          </a:solidFill>
          <a:ln/>
        </p:spPr>
      </p:sp>
      <p:sp>
        <p:nvSpPr>
          <p:cNvPr id="12" name="Text 10"/>
          <p:cNvSpPr/>
          <p:nvPr/>
        </p:nvSpPr>
        <p:spPr>
          <a:xfrm>
            <a:off x="822960" y="2816352"/>
            <a:ext cx="4646981" cy="621792"/>
          </a:xfrm>
          <a:prstGeom prst="rect">
            <a:avLst/>
          </a:prstGeom>
          <a:noFill/>
          <a:ln/>
        </p:spPr>
        <p:txBody>
          <a:bodyPr wrap="square" rtlCol="0" anchor="ctr"/>
          <a:lstStyle/>
          <a:p>
            <a:pPr marL="0" indent="0">
              <a:buNone/>
            </a:pPr>
            <a:r>
              <a:rPr lang="en-US" sz="1200" b="1" dirty="0">
                <a:solidFill>
                  <a:srgbClr val="2C3539"/>
                </a:solidFill>
                <a:latin typeface="Calibri" pitchFamily="34" charset="0"/>
                <a:ea typeface="Calibri" pitchFamily="34" charset="-122"/>
                <a:cs typeface="Calibri" pitchFamily="34" charset="-120"/>
              </a:rPr>
              <a:t>Road Accidents</a:t>
            </a:r>
            <a:endParaRPr lang="en-US" sz="1200" dirty="0"/>
          </a:p>
        </p:txBody>
      </p:sp>
      <p:sp>
        <p:nvSpPr>
          <p:cNvPr id="13" name="Text 11"/>
          <p:cNvSpPr/>
          <p:nvPr/>
        </p:nvSpPr>
        <p:spPr>
          <a:xfrm>
            <a:off x="5638190" y="2816352"/>
            <a:ext cx="5532120" cy="621792"/>
          </a:xfrm>
          <a:prstGeom prst="rect">
            <a:avLst/>
          </a:prstGeom>
          <a:noFill/>
          <a:ln/>
        </p:spPr>
        <p:txBody>
          <a:bodyPr wrap="square" rtlCol="0" anchor="ctr"/>
          <a:lstStyle/>
          <a:p>
            <a:pPr marL="0" indent="0">
              <a:buNone/>
            </a:pPr>
            <a:r>
              <a:rPr lang="en-US" sz="1200" dirty="0">
                <a:solidFill>
                  <a:srgbClr val="2E86C1"/>
                </a:solidFill>
                <a:latin typeface="Calibri" pitchFamily="34" charset="0"/>
                <a:ea typeface="Calibri" pitchFamily="34" charset="-122"/>
                <a:cs typeface="Calibri" pitchFamily="34" charset="-120"/>
              </a:rPr>
              <a:t>Real-time Incident Detection &amp; Alerting</a:t>
            </a:r>
            <a:endParaRPr lang="en-US" sz="1200" dirty="0"/>
          </a:p>
        </p:txBody>
      </p:sp>
      <p:sp>
        <p:nvSpPr>
          <p:cNvPr id="14" name="Shape 12"/>
          <p:cNvSpPr/>
          <p:nvPr/>
        </p:nvSpPr>
        <p:spPr>
          <a:xfrm>
            <a:off x="548640" y="3438144"/>
            <a:ext cx="11064240" cy="621792"/>
          </a:xfrm>
          <a:prstGeom prst="rect">
            <a:avLst/>
          </a:prstGeom>
          <a:solidFill>
            <a:srgbClr val="FFFFFF"/>
          </a:solidFill>
          <a:ln/>
        </p:spPr>
      </p:sp>
      <p:sp>
        <p:nvSpPr>
          <p:cNvPr id="15" name="Text 13"/>
          <p:cNvSpPr/>
          <p:nvPr/>
        </p:nvSpPr>
        <p:spPr>
          <a:xfrm>
            <a:off x="822960" y="3438144"/>
            <a:ext cx="4646981" cy="621792"/>
          </a:xfrm>
          <a:prstGeom prst="rect">
            <a:avLst/>
          </a:prstGeom>
          <a:noFill/>
          <a:ln/>
        </p:spPr>
        <p:txBody>
          <a:bodyPr wrap="square" rtlCol="0" anchor="ctr"/>
          <a:lstStyle/>
          <a:p>
            <a:pPr marL="0" indent="0">
              <a:buNone/>
            </a:pPr>
            <a:r>
              <a:rPr lang="en-US" sz="1200" b="1" dirty="0">
                <a:solidFill>
                  <a:srgbClr val="2C3539"/>
                </a:solidFill>
                <a:latin typeface="Calibri" pitchFamily="34" charset="0"/>
                <a:ea typeface="Calibri" pitchFamily="34" charset="-122"/>
                <a:cs typeface="Calibri" pitchFamily="34" charset="-120"/>
              </a:rPr>
              <a:t>Public Safety</a:t>
            </a:r>
            <a:endParaRPr lang="en-US" sz="1200" dirty="0"/>
          </a:p>
        </p:txBody>
      </p:sp>
      <p:sp>
        <p:nvSpPr>
          <p:cNvPr id="16" name="Text 14"/>
          <p:cNvSpPr/>
          <p:nvPr/>
        </p:nvSpPr>
        <p:spPr>
          <a:xfrm>
            <a:off x="5638190" y="3438144"/>
            <a:ext cx="5532120" cy="621792"/>
          </a:xfrm>
          <a:prstGeom prst="rect">
            <a:avLst/>
          </a:prstGeom>
          <a:noFill/>
          <a:ln/>
        </p:spPr>
        <p:txBody>
          <a:bodyPr wrap="square" rtlCol="0" anchor="ctr"/>
          <a:lstStyle/>
          <a:p>
            <a:pPr marL="0" indent="0">
              <a:buNone/>
            </a:pPr>
            <a:r>
              <a:rPr lang="en-US" sz="1200" dirty="0">
                <a:solidFill>
                  <a:srgbClr val="2E86C1"/>
                </a:solidFill>
                <a:latin typeface="Calibri" pitchFamily="34" charset="0"/>
                <a:ea typeface="Calibri" pitchFamily="34" charset="-122"/>
                <a:cs typeface="Calibri" pitchFamily="34" charset="-120"/>
              </a:rPr>
              <a:t>Face Recognition &amp; Behavior Analysis</a:t>
            </a:r>
            <a:endParaRPr lang="en-US" sz="1200" dirty="0"/>
          </a:p>
        </p:txBody>
      </p:sp>
      <p:sp>
        <p:nvSpPr>
          <p:cNvPr id="17" name="Shape 15"/>
          <p:cNvSpPr/>
          <p:nvPr/>
        </p:nvSpPr>
        <p:spPr>
          <a:xfrm>
            <a:off x="548640" y="4059936"/>
            <a:ext cx="11064240" cy="621792"/>
          </a:xfrm>
          <a:prstGeom prst="rect">
            <a:avLst/>
          </a:prstGeom>
          <a:solidFill>
            <a:srgbClr val="EAF0F6"/>
          </a:solidFill>
          <a:ln/>
        </p:spPr>
      </p:sp>
      <p:sp>
        <p:nvSpPr>
          <p:cNvPr id="18" name="Text 16"/>
          <p:cNvSpPr/>
          <p:nvPr/>
        </p:nvSpPr>
        <p:spPr>
          <a:xfrm>
            <a:off x="822960" y="4059936"/>
            <a:ext cx="4646981" cy="621792"/>
          </a:xfrm>
          <a:prstGeom prst="rect">
            <a:avLst/>
          </a:prstGeom>
          <a:noFill/>
          <a:ln/>
        </p:spPr>
        <p:txBody>
          <a:bodyPr wrap="square" rtlCol="0" anchor="ctr"/>
          <a:lstStyle/>
          <a:p>
            <a:pPr marL="0" indent="0">
              <a:buNone/>
            </a:pPr>
            <a:r>
              <a:rPr lang="en-US" sz="1200" b="1" dirty="0">
                <a:solidFill>
                  <a:srgbClr val="2C3539"/>
                </a:solidFill>
                <a:latin typeface="Calibri" pitchFamily="34" charset="0"/>
                <a:ea typeface="Calibri" pitchFamily="34" charset="-122"/>
                <a:cs typeface="Calibri" pitchFamily="34" charset="-120"/>
              </a:rPr>
              <a:t>Illegal Parking</a:t>
            </a:r>
            <a:endParaRPr lang="en-US" sz="1200" dirty="0"/>
          </a:p>
        </p:txBody>
      </p:sp>
      <p:sp>
        <p:nvSpPr>
          <p:cNvPr id="19" name="Text 17"/>
          <p:cNvSpPr/>
          <p:nvPr/>
        </p:nvSpPr>
        <p:spPr>
          <a:xfrm>
            <a:off x="5638190" y="4059936"/>
            <a:ext cx="5532120" cy="621792"/>
          </a:xfrm>
          <a:prstGeom prst="rect">
            <a:avLst/>
          </a:prstGeom>
          <a:noFill/>
          <a:ln/>
        </p:spPr>
        <p:txBody>
          <a:bodyPr wrap="square" rtlCol="0" anchor="ctr"/>
          <a:lstStyle/>
          <a:p>
            <a:pPr marL="0" indent="0">
              <a:buNone/>
            </a:pPr>
            <a:r>
              <a:rPr lang="en-US" sz="1200" dirty="0">
                <a:solidFill>
                  <a:srgbClr val="2E86C1"/>
                </a:solidFill>
                <a:latin typeface="Calibri" pitchFamily="34" charset="0"/>
                <a:ea typeface="Calibri" pitchFamily="34" charset="-122"/>
                <a:cs typeface="Calibri" pitchFamily="34" charset="-120"/>
              </a:rPr>
              <a:t>Automatic Number Plate Recognition (ANPR)</a:t>
            </a:r>
            <a:endParaRPr lang="en-US" sz="1200" dirty="0"/>
          </a:p>
        </p:txBody>
      </p:sp>
      <p:sp>
        <p:nvSpPr>
          <p:cNvPr id="20" name="Shape 18"/>
          <p:cNvSpPr/>
          <p:nvPr/>
        </p:nvSpPr>
        <p:spPr>
          <a:xfrm>
            <a:off x="548640" y="4681728"/>
            <a:ext cx="11064240" cy="621792"/>
          </a:xfrm>
          <a:prstGeom prst="rect">
            <a:avLst/>
          </a:prstGeom>
          <a:solidFill>
            <a:srgbClr val="FFFFFF"/>
          </a:solidFill>
          <a:ln/>
        </p:spPr>
      </p:sp>
      <p:sp>
        <p:nvSpPr>
          <p:cNvPr id="21" name="Text 19"/>
          <p:cNvSpPr/>
          <p:nvPr/>
        </p:nvSpPr>
        <p:spPr>
          <a:xfrm>
            <a:off x="822960" y="4681728"/>
            <a:ext cx="4646981" cy="621792"/>
          </a:xfrm>
          <a:prstGeom prst="rect">
            <a:avLst/>
          </a:prstGeom>
          <a:noFill/>
          <a:ln/>
        </p:spPr>
        <p:txBody>
          <a:bodyPr wrap="square" rtlCol="0" anchor="ctr"/>
          <a:lstStyle/>
          <a:p>
            <a:pPr marL="0" indent="0">
              <a:buNone/>
            </a:pPr>
            <a:r>
              <a:rPr lang="en-US" sz="1200" b="1" dirty="0">
                <a:solidFill>
                  <a:srgbClr val="2C3539"/>
                </a:solidFill>
                <a:latin typeface="Calibri" pitchFamily="34" charset="0"/>
                <a:ea typeface="Calibri" pitchFamily="34" charset="-122"/>
                <a:cs typeface="Calibri" pitchFamily="34" charset="-120"/>
              </a:rPr>
              <a:t>Public Gatherings</a:t>
            </a:r>
            <a:endParaRPr lang="en-US" sz="1200" dirty="0"/>
          </a:p>
        </p:txBody>
      </p:sp>
      <p:sp>
        <p:nvSpPr>
          <p:cNvPr id="22" name="Text 20"/>
          <p:cNvSpPr/>
          <p:nvPr/>
        </p:nvSpPr>
        <p:spPr>
          <a:xfrm>
            <a:off x="5638190" y="4681728"/>
            <a:ext cx="5532120" cy="621792"/>
          </a:xfrm>
          <a:prstGeom prst="rect">
            <a:avLst/>
          </a:prstGeom>
          <a:noFill/>
          <a:ln/>
        </p:spPr>
        <p:txBody>
          <a:bodyPr wrap="square" rtlCol="0" anchor="ctr"/>
          <a:lstStyle/>
          <a:p>
            <a:pPr marL="0" indent="0">
              <a:buNone/>
            </a:pPr>
            <a:r>
              <a:rPr lang="en-US" sz="1200" dirty="0">
                <a:solidFill>
                  <a:srgbClr val="2E86C1"/>
                </a:solidFill>
                <a:latin typeface="Calibri" pitchFamily="34" charset="0"/>
                <a:ea typeface="Calibri" pitchFamily="34" charset="-122"/>
                <a:cs typeface="Calibri" pitchFamily="34" charset="-120"/>
              </a:rPr>
              <a:t>Crowd Monitoring &amp; Density Estimation</a:t>
            </a:r>
            <a:endParaRPr lang="en-US" sz="1200" dirty="0"/>
          </a:p>
        </p:txBody>
      </p:sp>
      <p:sp>
        <p:nvSpPr>
          <p:cNvPr id="23" name="Shape 21"/>
          <p:cNvSpPr/>
          <p:nvPr/>
        </p:nvSpPr>
        <p:spPr>
          <a:xfrm>
            <a:off x="548640" y="5303520"/>
            <a:ext cx="11064240" cy="621792"/>
          </a:xfrm>
          <a:prstGeom prst="rect">
            <a:avLst/>
          </a:prstGeom>
          <a:solidFill>
            <a:srgbClr val="EAF0F6"/>
          </a:solidFill>
          <a:ln/>
        </p:spPr>
      </p:sp>
      <p:sp>
        <p:nvSpPr>
          <p:cNvPr id="24" name="Text 22"/>
          <p:cNvSpPr/>
          <p:nvPr/>
        </p:nvSpPr>
        <p:spPr>
          <a:xfrm>
            <a:off x="822960" y="5303520"/>
            <a:ext cx="4646981" cy="621792"/>
          </a:xfrm>
          <a:prstGeom prst="rect">
            <a:avLst/>
          </a:prstGeom>
          <a:noFill/>
          <a:ln/>
        </p:spPr>
        <p:txBody>
          <a:bodyPr wrap="square" rtlCol="0" anchor="ctr"/>
          <a:lstStyle/>
          <a:p>
            <a:pPr marL="0" indent="0">
              <a:buNone/>
            </a:pPr>
            <a:r>
              <a:rPr lang="en-US" sz="1200" b="1" dirty="0">
                <a:solidFill>
                  <a:srgbClr val="2C3539"/>
                </a:solidFill>
                <a:latin typeface="Calibri" pitchFamily="34" charset="0"/>
                <a:ea typeface="Calibri" pitchFamily="34" charset="-122"/>
                <a:cs typeface="Calibri" pitchFamily="34" charset="-120"/>
              </a:rPr>
              <a:t>Waste Overflow</a:t>
            </a:r>
            <a:endParaRPr lang="en-US" sz="1200" dirty="0"/>
          </a:p>
        </p:txBody>
      </p:sp>
      <p:sp>
        <p:nvSpPr>
          <p:cNvPr id="25" name="Text 23"/>
          <p:cNvSpPr/>
          <p:nvPr/>
        </p:nvSpPr>
        <p:spPr>
          <a:xfrm>
            <a:off x="5638190" y="5303520"/>
            <a:ext cx="5532120" cy="621792"/>
          </a:xfrm>
          <a:prstGeom prst="rect">
            <a:avLst/>
          </a:prstGeom>
          <a:noFill/>
          <a:ln/>
        </p:spPr>
        <p:txBody>
          <a:bodyPr wrap="square" rtlCol="0" anchor="ctr"/>
          <a:lstStyle/>
          <a:p>
            <a:pPr marL="0" indent="0">
              <a:buNone/>
            </a:pPr>
            <a:r>
              <a:rPr lang="en-US" sz="1200" dirty="0">
                <a:solidFill>
                  <a:srgbClr val="2E86C1"/>
                </a:solidFill>
                <a:latin typeface="Calibri" pitchFamily="34" charset="0"/>
                <a:ea typeface="Calibri" pitchFamily="34" charset="-122"/>
                <a:cs typeface="Calibri" pitchFamily="34" charset="-120"/>
              </a:rPr>
              <a:t>Smart Waste Bin Monitoring</a:t>
            </a:r>
            <a:endParaRPr lang="en-US" sz="1200" dirty="0"/>
          </a:p>
        </p:txBody>
      </p:sp>
      <p:sp>
        <p:nvSpPr>
          <p:cNvPr id="26" name="Shape 24"/>
          <p:cNvSpPr/>
          <p:nvPr/>
        </p:nvSpPr>
        <p:spPr>
          <a:xfrm>
            <a:off x="5416906" y="1691640"/>
            <a:ext cx="0" cy="4233672"/>
          </a:xfrm>
          <a:prstGeom prst="line">
            <a:avLst/>
          </a:prstGeom>
          <a:noFill/>
          <a:ln w="12700">
            <a:solidFill>
              <a:srgbClr val="D8E1EA"/>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200" dirty="0">
                <a:solidFill>
                  <a:srgbClr val="2E86C1"/>
                </a:solidFill>
                <a:latin typeface="Calibri" pitchFamily="34" charset="0"/>
                <a:ea typeface="Calibri" pitchFamily="34" charset="-122"/>
                <a:cs typeface="Calibri" pitchFamily="34" charset="-120"/>
              </a:rPr>
              <a:t>WHERE IT'S USED</a:t>
            </a:r>
            <a:endParaRPr lang="en-US" sz="1200" dirty="0"/>
          </a:p>
        </p:txBody>
      </p:sp>
      <p:sp>
        <p:nvSpPr>
          <p:cNvPr id="3" name="Text 1"/>
          <p:cNvSpPr/>
          <p:nvPr/>
        </p:nvSpPr>
        <p:spPr>
          <a:xfrm>
            <a:off x="502920" y="658368"/>
            <a:ext cx="10607040" cy="640080"/>
          </a:xfrm>
          <a:prstGeom prst="rect">
            <a:avLst/>
          </a:prstGeom>
          <a:noFill/>
          <a:ln/>
        </p:spPr>
        <p:txBody>
          <a:bodyPr wrap="square" rtlCol="0" anchor="ctr"/>
          <a:lstStyle/>
          <a:p>
            <a:pPr marL="0" indent="0">
              <a:buNone/>
            </a:pPr>
            <a:r>
              <a:rPr lang="en-US" sz="3000" b="1" dirty="0">
                <a:solidFill>
                  <a:srgbClr val="13294B"/>
                </a:solidFill>
                <a:latin typeface="Cambria" pitchFamily="34" charset="0"/>
                <a:ea typeface="Cambria" pitchFamily="34" charset="-122"/>
                <a:cs typeface="Cambria" pitchFamily="34" charset="-120"/>
              </a:rPr>
              <a:t>Major Applications</a:t>
            </a:r>
            <a:endParaRPr lang="en-US" sz="3000" dirty="0"/>
          </a:p>
        </p:txBody>
      </p:sp>
      <p:sp>
        <p:nvSpPr>
          <p:cNvPr id="4" name="Text 2"/>
          <p:cNvSpPr/>
          <p:nvPr/>
        </p:nvSpPr>
        <p:spPr>
          <a:xfrm>
            <a:off x="11365992" y="6446520"/>
            <a:ext cx="548640" cy="274320"/>
          </a:xfrm>
          <a:prstGeom prst="rect">
            <a:avLst/>
          </a:prstGeom>
          <a:noFill/>
          <a:ln/>
        </p:spPr>
        <p:txBody>
          <a:bodyPr wrap="square" rtlCol="0" anchor="ctr"/>
          <a:lstStyle/>
          <a:p>
            <a:pPr marL="0" indent="0" algn="r">
              <a:buNone/>
            </a:pPr>
            <a:r>
              <a:rPr lang="en-US" sz="1000" dirty="0">
                <a:solidFill>
                  <a:srgbClr val="A9B4BD"/>
                </a:solidFill>
                <a:latin typeface="Calibri" pitchFamily="34" charset="0"/>
                <a:ea typeface="Calibri" pitchFamily="34" charset="-122"/>
                <a:cs typeface="Calibri" pitchFamily="34" charset="-120"/>
              </a:rPr>
              <a:t>06</a:t>
            </a:r>
            <a:endParaRPr lang="en-US" sz="1000" dirty="0"/>
          </a:p>
        </p:txBody>
      </p:sp>
      <p:sp>
        <p:nvSpPr>
          <p:cNvPr id="5" name="Shape 3"/>
          <p:cNvSpPr/>
          <p:nvPr/>
        </p:nvSpPr>
        <p:spPr>
          <a:xfrm>
            <a:off x="548640" y="1691640"/>
            <a:ext cx="3611880" cy="2148840"/>
          </a:xfrm>
          <a:prstGeom prst="roundRect">
            <a:avLst>
              <a:gd name="adj" fmla="val 4255"/>
            </a:avLst>
          </a:prstGeom>
          <a:solidFill>
            <a:srgbClr val="13294B"/>
          </a:solidFill>
          <a:ln>
            <a:noFill/>
          </a:ln>
        </p:spPr>
      </p:sp>
      <p:sp>
        <p:nvSpPr>
          <p:cNvPr id="6" name="Shape 4"/>
          <p:cNvSpPr/>
          <p:nvPr/>
        </p:nvSpPr>
        <p:spPr>
          <a:xfrm>
            <a:off x="1897380" y="2011680"/>
            <a:ext cx="914400" cy="914400"/>
          </a:xfrm>
          <a:prstGeom prst="ellipse">
            <a:avLst/>
          </a:prstGeom>
          <a:solidFill>
            <a:srgbClr val="1D3A63"/>
          </a:solidFill>
          <a:ln/>
        </p:spPr>
      </p:sp>
      <p:pic>
        <p:nvPicPr>
          <p:cNvPr id="7" name="Image 0" descr="/home/claude/cv_smart_cities/icons/trafficmgmt.png"/>
          <p:cNvPicPr>
            <a:picLocks noChangeAspect="1"/>
          </p:cNvPicPr>
          <p:nvPr/>
        </p:nvPicPr>
        <p:blipFill>
          <a:blip r:embed="rId3"/>
          <a:stretch>
            <a:fillRect/>
          </a:stretch>
        </p:blipFill>
        <p:spPr>
          <a:xfrm>
            <a:off x="2148840" y="2217420"/>
            <a:ext cx="502920" cy="502920"/>
          </a:xfrm>
          <a:prstGeom prst="rect">
            <a:avLst/>
          </a:prstGeom>
        </p:spPr>
      </p:pic>
      <p:sp>
        <p:nvSpPr>
          <p:cNvPr id="8" name="Text 5"/>
          <p:cNvSpPr/>
          <p:nvPr/>
        </p:nvSpPr>
        <p:spPr>
          <a:xfrm>
            <a:off x="731520" y="3063240"/>
            <a:ext cx="3246120" cy="640080"/>
          </a:xfrm>
          <a:prstGeom prst="rect">
            <a:avLst/>
          </a:prstGeom>
          <a:noFill/>
          <a:ln/>
        </p:spPr>
        <p:txBody>
          <a:bodyPr wrap="square" rtlCol="0" anchor="t"/>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Smart Traffic</a:t>
            </a:r>
            <a:endParaRPr lang="en-US" sz="1300" dirty="0"/>
          </a:p>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Management</a:t>
            </a:r>
            <a:endParaRPr lang="en-US" sz="1300" dirty="0"/>
          </a:p>
        </p:txBody>
      </p:sp>
      <p:sp>
        <p:nvSpPr>
          <p:cNvPr id="9" name="Shape 6"/>
          <p:cNvSpPr/>
          <p:nvPr/>
        </p:nvSpPr>
        <p:spPr>
          <a:xfrm>
            <a:off x="4343400" y="1691640"/>
            <a:ext cx="3611880" cy="2148840"/>
          </a:xfrm>
          <a:prstGeom prst="roundRect">
            <a:avLst>
              <a:gd name="adj" fmla="val 4255"/>
            </a:avLst>
          </a:prstGeom>
          <a:solidFill>
            <a:srgbClr val="13294B"/>
          </a:solidFill>
          <a:ln/>
        </p:spPr>
      </p:sp>
      <p:sp>
        <p:nvSpPr>
          <p:cNvPr id="10" name="Shape 7"/>
          <p:cNvSpPr/>
          <p:nvPr/>
        </p:nvSpPr>
        <p:spPr>
          <a:xfrm>
            <a:off x="5692140" y="2011680"/>
            <a:ext cx="914400" cy="914400"/>
          </a:xfrm>
          <a:prstGeom prst="ellipse">
            <a:avLst/>
          </a:prstGeom>
          <a:solidFill>
            <a:srgbClr val="1D3A63"/>
          </a:solidFill>
          <a:ln/>
        </p:spPr>
      </p:sp>
      <p:pic>
        <p:nvPicPr>
          <p:cNvPr id="11" name="Image 1" descr="/home/claude/cv_smart_cities/icons/surveillance.png"/>
          <p:cNvPicPr>
            <a:picLocks noChangeAspect="1"/>
          </p:cNvPicPr>
          <p:nvPr/>
        </p:nvPicPr>
        <p:blipFill>
          <a:blip r:embed="rId4"/>
          <a:stretch>
            <a:fillRect/>
          </a:stretch>
        </p:blipFill>
        <p:spPr>
          <a:xfrm>
            <a:off x="5897880" y="2217420"/>
            <a:ext cx="502920" cy="502920"/>
          </a:xfrm>
          <a:prstGeom prst="rect">
            <a:avLst/>
          </a:prstGeom>
        </p:spPr>
      </p:pic>
      <p:sp>
        <p:nvSpPr>
          <p:cNvPr id="12" name="Text 8"/>
          <p:cNvSpPr/>
          <p:nvPr/>
        </p:nvSpPr>
        <p:spPr>
          <a:xfrm>
            <a:off x="4526280" y="3063240"/>
            <a:ext cx="3246120" cy="640080"/>
          </a:xfrm>
          <a:prstGeom prst="rect">
            <a:avLst/>
          </a:prstGeom>
          <a:noFill/>
          <a:ln/>
        </p:spPr>
        <p:txBody>
          <a:bodyPr wrap="square" rtlCol="0" anchor="t"/>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Intelligent</a:t>
            </a:r>
            <a:endParaRPr lang="en-US" sz="1300" dirty="0"/>
          </a:p>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Surveillance</a:t>
            </a:r>
            <a:endParaRPr lang="en-US" sz="1300" dirty="0"/>
          </a:p>
        </p:txBody>
      </p:sp>
      <p:sp>
        <p:nvSpPr>
          <p:cNvPr id="13" name="Shape 9"/>
          <p:cNvSpPr/>
          <p:nvPr/>
        </p:nvSpPr>
        <p:spPr>
          <a:xfrm>
            <a:off x="8138160" y="1691640"/>
            <a:ext cx="3611880" cy="2148840"/>
          </a:xfrm>
          <a:prstGeom prst="roundRect">
            <a:avLst>
              <a:gd name="adj" fmla="val 4255"/>
            </a:avLst>
          </a:prstGeom>
          <a:solidFill>
            <a:srgbClr val="13294B"/>
          </a:solidFill>
          <a:ln/>
        </p:spPr>
      </p:sp>
      <p:sp>
        <p:nvSpPr>
          <p:cNvPr id="14" name="Shape 10"/>
          <p:cNvSpPr/>
          <p:nvPr/>
        </p:nvSpPr>
        <p:spPr>
          <a:xfrm>
            <a:off x="9486900" y="2011680"/>
            <a:ext cx="914400" cy="914400"/>
          </a:xfrm>
          <a:prstGeom prst="ellipse">
            <a:avLst/>
          </a:prstGeom>
          <a:solidFill>
            <a:srgbClr val="1D3A63"/>
          </a:solidFill>
          <a:ln/>
        </p:spPr>
      </p:sp>
      <p:pic>
        <p:nvPicPr>
          <p:cNvPr id="15" name="Image 2" descr="/home/claude/cv_smart_cities/icons/smartpark.png"/>
          <p:cNvPicPr>
            <a:picLocks noChangeAspect="1"/>
          </p:cNvPicPr>
          <p:nvPr/>
        </p:nvPicPr>
        <p:blipFill>
          <a:blip r:embed="rId5"/>
          <a:stretch>
            <a:fillRect/>
          </a:stretch>
        </p:blipFill>
        <p:spPr>
          <a:xfrm>
            <a:off x="9692640" y="2217420"/>
            <a:ext cx="502920" cy="502920"/>
          </a:xfrm>
          <a:prstGeom prst="rect">
            <a:avLst/>
          </a:prstGeom>
        </p:spPr>
      </p:pic>
      <p:sp>
        <p:nvSpPr>
          <p:cNvPr id="16" name="Text 11"/>
          <p:cNvSpPr/>
          <p:nvPr/>
        </p:nvSpPr>
        <p:spPr>
          <a:xfrm>
            <a:off x="8321040" y="3063240"/>
            <a:ext cx="3246120" cy="640080"/>
          </a:xfrm>
          <a:prstGeom prst="rect">
            <a:avLst/>
          </a:prstGeom>
          <a:noFill/>
          <a:ln/>
        </p:spPr>
        <p:txBody>
          <a:bodyPr wrap="square" rtlCol="0" anchor="t"/>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Smart</a:t>
            </a:r>
            <a:endParaRPr lang="en-US" sz="1300" dirty="0"/>
          </a:p>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Parking</a:t>
            </a:r>
            <a:endParaRPr lang="en-US" sz="1300" dirty="0"/>
          </a:p>
        </p:txBody>
      </p:sp>
      <p:sp>
        <p:nvSpPr>
          <p:cNvPr id="17" name="Shape 12"/>
          <p:cNvSpPr/>
          <p:nvPr/>
        </p:nvSpPr>
        <p:spPr>
          <a:xfrm>
            <a:off x="548640" y="4069080"/>
            <a:ext cx="3611880" cy="2148840"/>
          </a:xfrm>
          <a:prstGeom prst="roundRect">
            <a:avLst>
              <a:gd name="adj" fmla="val 4255"/>
            </a:avLst>
          </a:prstGeom>
          <a:solidFill>
            <a:srgbClr val="13294B"/>
          </a:solidFill>
          <a:ln/>
        </p:spPr>
      </p:sp>
      <p:sp>
        <p:nvSpPr>
          <p:cNvPr id="18" name="Shape 13"/>
          <p:cNvSpPr/>
          <p:nvPr/>
        </p:nvSpPr>
        <p:spPr>
          <a:xfrm>
            <a:off x="1897380" y="4389120"/>
            <a:ext cx="914400" cy="914400"/>
          </a:xfrm>
          <a:prstGeom prst="ellipse">
            <a:avLst/>
          </a:prstGeom>
          <a:solidFill>
            <a:srgbClr val="1D3A63"/>
          </a:solidFill>
          <a:ln/>
        </p:spPr>
      </p:sp>
      <p:pic>
        <p:nvPicPr>
          <p:cNvPr id="19" name="Image 3" descr="/home/claude/cv_smart_cities/icons/transport.png"/>
          <p:cNvPicPr>
            <a:picLocks noChangeAspect="1"/>
          </p:cNvPicPr>
          <p:nvPr/>
        </p:nvPicPr>
        <p:blipFill>
          <a:blip r:embed="rId6"/>
          <a:stretch>
            <a:fillRect/>
          </a:stretch>
        </p:blipFill>
        <p:spPr>
          <a:xfrm>
            <a:off x="2103120" y="4594860"/>
            <a:ext cx="502920" cy="502920"/>
          </a:xfrm>
          <a:prstGeom prst="rect">
            <a:avLst/>
          </a:prstGeom>
        </p:spPr>
      </p:pic>
      <p:sp>
        <p:nvSpPr>
          <p:cNvPr id="20" name="Text 14"/>
          <p:cNvSpPr/>
          <p:nvPr/>
        </p:nvSpPr>
        <p:spPr>
          <a:xfrm>
            <a:off x="731520" y="5440680"/>
            <a:ext cx="3246120" cy="640080"/>
          </a:xfrm>
          <a:prstGeom prst="rect">
            <a:avLst/>
          </a:prstGeom>
          <a:noFill/>
          <a:ln/>
        </p:spPr>
        <p:txBody>
          <a:bodyPr wrap="square" rtlCol="0" anchor="t"/>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Public Transport</a:t>
            </a:r>
            <a:endParaRPr lang="en-US" sz="1300" dirty="0"/>
          </a:p>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Monitoring</a:t>
            </a:r>
            <a:endParaRPr lang="en-US" sz="1300" dirty="0"/>
          </a:p>
        </p:txBody>
      </p:sp>
      <p:sp>
        <p:nvSpPr>
          <p:cNvPr id="21" name="Shape 15"/>
          <p:cNvSpPr/>
          <p:nvPr/>
        </p:nvSpPr>
        <p:spPr>
          <a:xfrm>
            <a:off x="4343400" y="4069080"/>
            <a:ext cx="3611880" cy="2148840"/>
          </a:xfrm>
          <a:prstGeom prst="roundRect">
            <a:avLst>
              <a:gd name="adj" fmla="val 4255"/>
            </a:avLst>
          </a:prstGeom>
          <a:solidFill>
            <a:srgbClr val="13294B"/>
          </a:solidFill>
          <a:ln/>
        </p:spPr>
      </p:sp>
      <p:sp>
        <p:nvSpPr>
          <p:cNvPr id="22" name="Shape 16"/>
          <p:cNvSpPr/>
          <p:nvPr/>
        </p:nvSpPr>
        <p:spPr>
          <a:xfrm>
            <a:off x="5692140" y="4389120"/>
            <a:ext cx="914400" cy="914400"/>
          </a:xfrm>
          <a:prstGeom prst="ellipse">
            <a:avLst/>
          </a:prstGeom>
          <a:solidFill>
            <a:srgbClr val="1D3A63"/>
          </a:solidFill>
          <a:ln/>
        </p:spPr>
      </p:sp>
      <p:pic>
        <p:nvPicPr>
          <p:cNvPr id="23" name="Image 4" descr="/home/claude/cv_smart_cities/icons/wastemgmt.png"/>
          <p:cNvPicPr>
            <a:picLocks noChangeAspect="1"/>
          </p:cNvPicPr>
          <p:nvPr/>
        </p:nvPicPr>
        <p:blipFill>
          <a:blip r:embed="rId7"/>
          <a:stretch>
            <a:fillRect/>
          </a:stretch>
        </p:blipFill>
        <p:spPr>
          <a:xfrm>
            <a:off x="5897880" y="4594860"/>
            <a:ext cx="502920" cy="502920"/>
          </a:xfrm>
          <a:prstGeom prst="rect">
            <a:avLst/>
          </a:prstGeom>
        </p:spPr>
      </p:pic>
      <p:sp>
        <p:nvSpPr>
          <p:cNvPr id="24" name="Text 17"/>
          <p:cNvSpPr/>
          <p:nvPr/>
        </p:nvSpPr>
        <p:spPr>
          <a:xfrm>
            <a:off x="4526280" y="5440680"/>
            <a:ext cx="3246120" cy="640080"/>
          </a:xfrm>
          <a:prstGeom prst="rect">
            <a:avLst/>
          </a:prstGeom>
          <a:noFill/>
          <a:ln/>
        </p:spPr>
        <p:txBody>
          <a:bodyPr wrap="square" rtlCol="0" anchor="t"/>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Waste</a:t>
            </a:r>
            <a:endParaRPr lang="en-US" sz="1300" dirty="0"/>
          </a:p>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Management</a:t>
            </a:r>
            <a:endParaRPr lang="en-US" sz="1300" dirty="0"/>
          </a:p>
        </p:txBody>
      </p:sp>
      <p:sp>
        <p:nvSpPr>
          <p:cNvPr id="25" name="Shape 18"/>
          <p:cNvSpPr/>
          <p:nvPr/>
        </p:nvSpPr>
        <p:spPr>
          <a:xfrm>
            <a:off x="8138160" y="4069080"/>
            <a:ext cx="3611880" cy="2148840"/>
          </a:xfrm>
          <a:prstGeom prst="roundRect">
            <a:avLst>
              <a:gd name="adj" fmla="val 4255"/>
            </a:avLst>
          </a:prstGeom>
          <a:solidFill>
            <a:srgbClr val="13294B"/>
          </a:solidFill>
          <a:ln/>
        </p:spPr>
      </p:sp>
      <p:sp>
        <p:nvSpPr>
          <p:cNvPr id="26" name="Shape 19"/>
          <p:cNvSpPr/>
          <p:nvPr/>
        </p:nvSpPr>
        <p:spPr>
          <a:xfrm>
            <a:off x="9486900" y="4389120"/>
            <a:ext cx="914400" cy="914400"/>
          </a:xfrm>
          <a:prstGeom prst="ellipse">
            <a:avLst/>
          </a:prstGeom>
          <a:solidFill>
            <a:srgbClr val="1D3A63"/>
          </a:solidFill>
          <a:ln/>
        </p:spPr>
      </p:sp>
      <p:pic>
        <p:nvPicPr>
          <p:cNvPr id="27" name="Image 5" descr="/home/claude/cv_smart_cities/icons/disaster.png"/>
          <p:cNvPicPr>
            <a:picLocks noChangeAspect="1"/>
          </p:cNvPicPr>
          <p:nvPr/>
        </p:nvPicPr>
        <p:blipFill>
          <a:blip r:embed="rId8"/>
          <a:stretch>
            <a:fillRect/>
          </a:stretch>
        </p:blipFill>
        <p:spPr>
          <a:xfrm>
            <a:off x="9692640" y="4594860"/>
            <a:ext cx="502920" cy="502920"/>
          </a:xfrm>
          <a:prstGeom prst="rect">
            <a:avLst/>
          </a:prstGeom>
        </p:spPr>
      </p:pic>
      <p:sp>
        <p:nvSpPr>
          <p:cNvPr id="28" name="Text 20"/>
          <p:cNvSpPr/>
          <p:nvPr/>
        </p:nvSpPr>
        <p:spPr>
          <a:xfrm>
            <a:off x="8321040" y="5440680"/>
            <a:ext cx="3246120" cy="640080"/>
          </a:xfrm>
          <a:prstGeom prst="rect">
            <a:avLst/>
          </a:prstGeom>
          <a:noFill/>
          <a:ln/>
        </p:spPr>
        <p:txBody>
          <a:bodyPr wrap="square" rtlCol="0" anchor="t"/>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Disaster</a:t>
            </a:r>
            <a:endParaRPr lang="en-US" sz="1300" dirty="0"/>
          </a:p>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Detection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200" dirty="0">
                <a:solidFill>
                  <a:srgbClr val="2E86C1"/>
                </a:solidFill>
                <a:latin typeface="Calibri" pitchFamily="34" charset="0"/>
                <a:ea typeface="Calibri" pitchFamily="34" charset="-122"/>
                <a:cs typeface="Calibri" pitchFamily="34" charset="-120"/>
              </a:rPr>
              <a:t>LOOKING AHEAD</a:t>
            </a:r>
            <a:endParaRPr lang="en-US" sz="1200" dirty="0"/>
          </a:p>
        </p:txBody>
      </p:sp>
      <p:sp>
        <p:nvSpPr>
          <p:cNvPr id="3" name="Text 1"/>
          <p:cNvSpPr/>
          <p:nvPr/>
        </p:nvSpPr>
        <p:spPr>
          <a:xfrm>
            <a:off x="502920" y="658368"/>
            <a:ext cx="10607040" cy="640080"/>
          </a:xfrm>
          <a:prstGeom prst="rect">
            <a:avLst/>
          </a:prstGeom>
          <a:noFill/>
          <a:ln/>
        </p:spPr>
        <p:txBody>
          <a:bodyPr wrap="square" rtlCol="0" anchor="ctr"/>
          <a:lstStyle/>
          <a:p>
            <a:pPr marL="0" indent="0">
              <a:buNone/>
            </a:pPr>
            <a:r>
              <a:rPr lang="en-US" sz="3000" b="1" dirty="0">
                <a:solidFill>
                  <a:srgbClr val="13294B"/>
                </a:solidFill>
                <a:latin typeface="Cambria" pitchFamily="34" charset="0"/>
                <a:ea typeface="Cambria" pitchFamily="34" charset="-122"/>
                <a:cs typeface="Cambria" pitchFamily="34" charset="-120"/>
              </a:rPr>
              <a:t>Benefits, Challenges &amp; Future Scope</a:t>
            </a:r>
            <a:endParaRPr lang="en-US" sz="3000" dirty="0"/>
          </a:p>
        </p:txBody>
      </p:sp>
      <p:sp>
        <p:nvSpPr>
          <p:cNvPr id="4" name="Text 2"/>
          <p:cNvSpPr/>
          <p:nvPr/>
        </p:nvSpPr>
        <p:spPr>
          <a:xfrm>
            <a:off x="11365992" y="6446520"/>
            <a:ext cx="548640" cy="274320"/>
          </a:xfrm>
          <a:prstGeom prst="rect">
            <a:avLst/>
          </a:prstGeom>
          <a:noFill/>
          <a:ln/>
        </p:spPr>
        <p:txBody>
          <a:bodyPr wrap="square" rtlCol="0" anchor="ctr"/>
          <a:lstStyle/>
          <a:p>
            <a:pPr marL="0" indent="0" algn="r">
              <a:buNone/>
            </a:pPr>
            <a:r>
              <a:rPr lang="en-US" sz="1000" dirty="0">
                <a:solidFill>
                  <a:srgbClr val="A9B4BD"/>
                </a:solidFill>
                <a:latin typeface="Calibri" pitchFamily="34" charset="0"/>
                <a:ea typeface="Calibri" pitchFamily="34" charset="-122"/>
                <a:cs typeface="Calibri" pitchFamily="34" charset="-120"/>
              </a:rPr>
              <a:t>09</a:t>
            </a:r>
            <a:endParaRPr lang="en-US" sz="1000" dirty="0"/>
          </a:p>
        </p:txBody>
      </p:sp>
      <p:sp>
        <p:nvSpPr>
          <p:cNvPr id="5" name="Shape 3"/>
          <p:cNvSpPr/>
          <p:nvPr/>
        </p:nvSpPr>
        <p:spPr>
          <a:xfrm>
            <a:off x="548640" y="1600200"/>
            <a:ext cx="3611880" cy="4297680"/>
          </a:xfrm>
          <a:prstGeom prst="roundRect">
            <a:avLst>
              <a:gd name="adj" fmla="val 2532"/>
            </a:avLst>
          </a:prstGeom>
          <a:solidFill>
            <a:srgbClr val="FFFFFF"/>
          </a:solidFill>
          <a:ln w="12700">
            <a:solidFill>
              <a:srgbClr val="E3E9EF"/>
            </a:solidFill>
            <a:prstDash val="solid"/>
          </a:ln>
          <a:effectLst>
            <a:outerShdw blurRad="63500" dist="25400" dir="5400000" algn="bl" rotWithShape="0">
              <a:srgbClr val="1F3B5A">
                <a:alpha val="10000"/>
              </a:srgbClr>
            </a:outerShdw>
          </a:effectLst>
        </p:spPr>
      </p:sp>
      <p:sp>
        <p:nvSpPr>
          <p:cNvPr id="6" name="Shape 4"/>
          <p:cNvSpPr/>
          <p:nvPr/>
        </p:nvSpPr>
        <p:spPr>
          <a:xfrm>
            <a:off x="548640" y="1600200"/>
            <a:ext cx="3611880" cy="685800"/>
          </a:xfrm>
          <a:prstGeom prst="roundRect">
            <a:avLst>
              <a:gd name="adj" fmla="val 13333"/>
            </a:avLst>
          </a:prstGeom>
          <a:solidFill>
            <a:srgbClr val="1E8A5F"/>
          </a:solidFill>
          <a:ln/>
        </p:spPr>
      </p:sp>
      <p:sp>
        <p:nvSpPr>
          <p:cNvPr id="7" name="Shape 5"/>
          <p:cNvSpPr/>
          <p:nvPr/>
        </p:nvSpPr>
        <p:spPr>
          <a:xfrm>
            <a:off x="548640" y="1965960"/>
            <a:ext cx="3611880" cy="320040"/>
          </a:xfrm>
          <a:prstGeom prst="rect">
            <a:avLst/>
          </a:prstGeom>
          <a:solidFill>
            <a:srgbClr val="1E8A5F"/>
          </a:solidFill>
          <a:ln/>
        </p:spPr>
      </p:sp>
      <p:sp>
        <p:nvSpPr>
          <p:cNvPr id="8" name="Text 6"/>
          <p:cNvSpPr/>
          <p:nvPr/>
        </p:nvSpPr>
        <p:spPr>
          <a:xfrm>
            <a:off x="548640" y="1600200"/>
            <a:ext cx="3611880" cy="68580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Benefits</a:t>
            </a:r>
            <a:endParaRPr lang="en-US" sz="1700" dirty="0"/>
          </a:p>
        </p:txBody>
      </p:sp>
      <p:sp>
        <p:nvSpPr>
          <p:cNvPr id="9" name="Shape 7"/>
          <p:cNvSpPr/>
          <p:nvPr/>
        </p:nvSpPr>
        <p:spPr>
          <a:xfrm>
            <a:off x="754380" y="2601468"/>
            <a:ext cx="502920" cy="502920"/>
          </a:xfrm>
          <a:prstGeom prst="ellipse">
            <a:avLst/>
          </a:prstGeom>
          <a:solidFill>
            <a:srgbClr val="E4F3EC"/>
          </a:solidFill>
          <a:ln/>
        </p:spPr>
      </p:sp>
      <p:pic>
        <p:nvPicPr>
          <p:cNvPr id="10" name="Image 0" descr="/home/claude/cv_smart_cities/icons/benefit.png"/>
          <p:cNvPicPr>
            <a:picLocks noChangeAspect="1"/>
          </p:cNvPicPr>
          <p:nvPr/>
        </p:nvPicPr>
        <p:blipFill>
          <a:blip r:embed="rId3"/>
          <a:stretch>
            <a:fillRect/>
          </a:stretch>
        </p:blipFill>
        <p:spPr>
          <a:xfrm>
            <a:off x="867537" y="2714625"/>
            <a:ext cx="276606" cy="276606"/>
          </a:xfrm>
          <a:prstGeom prst="rect">
            <a:avLst/>
          </a:prstGeom>
        </p:spPr>
      </p:pic>
      <p:sp>
        <p:nvSpPr>
          <p:cNvPr id="11" name="Text 8"/>
          <p:cNvSpPr/>
          <p:nvPr/>
        </p:nvSpPr>
        <p:spPr>
          <a:xfrm>
            <a:off x="1325880" y="256032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Improved safety</a:t>
            </a:r>
            <a:endParaRPr lang="en-US" sz="1150" dirty="0"/>
          </a:p>
        </p:txBody>
      </p:sp>
      <p:sp>
        <p:nvSpPr>
          <p:cNvPr id="12" name="Shape 9"/>
          <p:cNvSpPr/>
          <p:nvPr/>
        </p:nvSpPr>
        <p:spPr>
          <a:xfrm>
            <a:off x="754380" y="3378708"/>
            <a:ext cx="502920" cy="502920"/>
          </a:xfrm>
          <a:prstGeom prst="ellipse">
            <a:avLst/>
          </a:prstGeom>
          <a:solidFill>
            <a:srgbClr val="E4F3EC"/>
          </a:solidFill>
          <a:ln/>
        </p:spPr>
      </p:sp>
      <p:pic>
        <p:nvPicPr>
          <p:cNvPr id="13" name="Image 1" descr="/home/claude/cv_smart_cities/icons/speed.png"/>
          <p:cNvPicPr>
            <a:picLocks noChangeAspect="1"/>
          </p:cNvPicPr>
          <p:nvPr/>
        </p:nvPicPr>
        <p:blipFill>
          <a:blip r:embed="rId4"/>
          <a:stretch>
            <a:fillRect/>
          </a:stretch>
        </p:blipFill>
        <p:spPr>
          <a:xfrm>
            <a:off x="867537" y="3491865"/>
            <a:ext cx="276606" cy="276606"/>
          </a:xfrm>
          <a:prstGeom prst="rect">
            <a:avLst/>
          </a:prstGeom>
        </p:spPr>
      </p:pic>
      <p:sp>
        <p:nvSpPr>
          <p:cNvPr id="14" name="Text 10"/>
          <p:cNvSpPr/>
          <p:nvPr/>
        </p:nvSpPr>
        <p:spPr>
          <a:xfrm>
            <a:off x="1325880" y="333756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Reduced congestion</a:t>
            </a:r>
            <a:endParaRPr lang="en-US" sz="1150" dirty="0"/>
          </a:p>
        </p:txBody>
      </p:sp>
      <p:sp>
        <p:nvSpPr>
          <p:cNvPr id="15" name="Shape 11"/>
          <p:cNvSpPr/>
          <p:nvPr/>
        </p:nvSpPr>
        <p:spPr>
          <a:xfrm>
            <a:off x="754380" y="4155948"/>
            <a:ext cx="502920" cy="502920"/>
          </a:xfrm>
          <a:prstGeom prst="ellipse">
            <a:avLst/>
          </a:prstGeom>
          <a:solidFill>
            <a:srgbClr val="E4F3EC"/>
          </a:solidFill>
          <a:ln/>
        </p:spPr>
      </p:sp>
      <p:pic>
        <p:nvPicPr>
          <p:cNvPr id="16" name="Image 2" descr="/home/claude/cv_smart_cities/icons/response.png"/>
          <p:cNvPicPr>
            <a:picLocks noChangeAspect="1"/>
          </p:cNvPicPr>
          <p:nvPr/>
        </p:nvPicPr>
        <p:blipFill>
          <a:blip r:embed="rId5"/>
          <a:stretch>
            <a:fillRect/>
          </a:stretch>
        </p:blipFill>
        <p:spPr>
          <a:xfrm>
            <a:off x="867537" y="4269105"/>
            <a:ext cx="276606" cy="276606"/>
          </a:xfrm>
          <a:prstGeom prst="rect">
            <a:avLst/>
          </a:prstGeom>
        </p:spPr>
      </p:pic>
      <p:sp>
        <p:nvSpPr>
          <p:cNvPr id="17" name="Text 12"/>
          <p:cNvSpPr/>
          <p:nvPr/>
        </p:nvSpPr>
        <p:spPr>
          <a:xfrm>
            <a:off x="1325880" y="411480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Faster emergency response</a:t>
            </a:r>
            <a:endParaRPr lang="en-US" sz="1150" dirty="0"/>
          </a:p>
        </p:txBody>
      </p:sp>
      <p:sp>
        <p:nvSpPr>
          <p:cNvPr id="18" name="Shape 13"/>
          <p:cNvSpPr/>
          <p:nvPr/>
        </p:nvSpPr>
        <p:spPr>
          <a:xfrm>
            <a:off x="754380" y="4933188"/>
            <a:ext cx="502920" cy="502920"/>
          </a:xfrm>
          <a:prstGeom prst="ellipse">
            <a:avLst/>
          </a:prstGeom>
          <a:solidFill>
            <a:srgbClr val="E4F3EC"/>
          </a:solidFill>
          <a:ln/>
        </p:spPr>
      </p:sp>
      <p:pic>
        <p:nvPicPr>
          <p:cNvPr id="19" name="Image 3" descr="/home/claude/cv_smart_cities/icons/resource.png"/>
          <p:cNvPicPr>
            <a:picLocks noChangeAspect="1"/>
          </p:cNvPicPr>
          <p:nvPr/>
        </p:nvPicPr>
        <p:blipFill>
          <a:blip r:embed="rId6"/>
          <a:stretch>
            <a:fillRect/>
          </a:stretch>
        </p:blipFill>
        <p:spPr>
          <a:xfrm>
            <a:off x="867537" y="5046345"/>
            <a:ext cx="276606" cy="276606"/>
          </a:xfrm>
          <a:prstGeom prst="rect">
            <a:avLst/>
          </a:prstGeom>
        </p:spPr>
      </p:pic>
      <p:sp>
        <p:nvSpPr>
          <p:cNvPr id="20" name="Text 14"/>
          <p:cNvSpPr/>
          <p:nvPr/>
        </p:nvSpPr>
        <p:spPr>
          <a:xfrm>
            <a:off x="1325880" y="489204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Better resource utilization</a:t>
            </a:r>
            <a:endParaRPr lang="en-US" sz="1150" dirty="0"/>
          </a:p>
        </p:txBody>
      </p:sp>
      <p:sp>
        <p:nvSpPr>
          <p:cNvPr id="21" name="Shape 15"/>
          <p:cNvSpPr/>
          <p:nvPr/>
        </p:nvSpPr>
        <p:spPr>
          <a:xfrm>
            <a:off x="4343400" y="1600200"/>
            <a:ext cx="3611880" cy="4297680"/>
          </a:xfrm>
          <a:prstGeom prst="roundRect">
            <a:avLst>
              <a:gd name="adj" fmla="val 2532"/>
            </a:avLst>
          </a:prstGeom>
          <a:solidFill>
            <a:srgbClr val="FFFFFF"/>
          </a:solidFill>
          <a:ln w="12700">
            <a:solidFill>
              <a:srgbClr val="E3E9EF"/>
            </a:solidFill>
            <a:prstDash val="solid"/>
          </a:ln>
          <a:effectLst>
            <a:outerShdw blurRad="63500" dist="25400" dir="5400000" algn="bl" rotWithShape="0">
              <a:srgbClr val="1F3B5A">
                <a:alpha val="10000"/>
              </a:srgbClr>
            </a:outerShdw>
          </a:effectLst>
        </p:spPr>
      </p:sp>
      <p:sp>
        <p:nvSpPr>
          <p:cNvPr id="22" name="Shape 16"/>
          <p:cNvSpPr/>
          <p:nvPr/>
        </p:nvSpPr>
        <p:spPr>
          <a:xfrm>
            <a:off x="4343400" y="1600200"/>
            <a:ext cx="3611880" cy="685800"/>
          </a:xfrm>
          <a:prstGeom prst="roundRect">
            <a:avLst>
              <a:gd name="adj" fmla="val 13333"/>
            </a:avLst>
          </a:prstGeom>
          <a:solidFill>
            <a:srgbClr val="C2792E"/>
          </a:solidFill>
          <a:ln/>
        </p:spPr>
      </p:sp>
      <p:sp>
        <p:nvSpPr>
          <p:cNvPr id="23" name="Shape 17"/>
          <p:cNvSpPr/>
          <p:nvPr/>
        </p:nvSpPr>
        <p:spPr>
          <a:xfrm>
            <a:off x="4343400" y="1965960"/>
            <a:ext cx="3611880" cy="320040"/>
          </a:xfrm>
          <a:prstGeom prst="rect">
            <a:avLst/>
          </a:prstGeom>
          <a:solidFill>
            <a:srgbClr val="C2792E"/>
          </a:solidFill>
          <a:ln/>
        </p:spPr>
      </p:sp>
      <p:sp>
        <p:nvSpPr>
          <p:cNvPr id="24" name="Text 18"/>
          <p:cNvSpPr/>
          <p:nvPr/>
        </p:nvSpPr>
        <p:spPr>
          <a:xfrm>
            <a:off x="4343400" y="1600200"/>
            <a:ext cx="3611880" cy="68580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Challenges</a:t>
            </a:r>
            <a:endParaRPr lang="en-US" sz="1700" dirty="0"/>
          </a:p>
        </p:txBody>
      </p:sp>
      <p:sp>
        <p:nvSpPr>
          <p:cNvPr id="25" name="Shape 19"/>
          <p:cNvSpPr/>
          <p:nvPr/>
        </p:nvSpPr>
        <p:spPr>
          <a:xfrm>
            <a:off x="4549140" y="2601468"/>
            <a:ext cx="502920" cy="502920"/>
          </a:xfrm>
          <a:prstGeom prst="ellipse">
            <a:avLst/>
          </a:prstGeom>
          <a:solidFill>
            <a:srgbClr val="FBEFE1"/>
          </a:solidFill>
          <a:ln/>
        </p:spPr>
      </p:sp>
      <p:pic>
        <p:nvPicPr>
          <p:cNvPr id="26" name="Image 4" descr="/home/claude/cv_smart_cities/icons/lock.png"/>
          <p:cNvPicPr>
            <a:picLocks noChangeAspect="1"/>
          </p:cNvPicPr>
          <p:nvPr/>
        </p:nvPicPr>
        <p:blipFill>
          <a:blip r:embed="rId7"/>
          <a:stretch>
            <a:fillRect/>
          </a:stretch>
        </p:blipFill>
        <p:spPr>
          <a:xfrm>
            <a:off x="4662297" y="2714625"/>
            <a:ext cx="276606" cy="276606"/>
          </a:xfrm>
          <a:prstGeom prst="rect">
            <a:avLst/>
          </a:prstGeom>
        </p:spPr>
      </p:pic>
      <p:sp>
        <p:nvSpPr>
          <p:cNvPr id="27" name="Text 20"/>
          <p:cNvSpPr/>
          <p:nvPr/>
        </p:nvSpPr>
        <p:spPr>
          <a:xfrm>
            <a:off x="5120640" y="256032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Privacy concerns</a:t>
            </a:r>
            <a:endParaRPr lang="en-US" sz="1150" dirty="0"/>
          </a:p>
        </p:txBody>
      </p:sp>
      <p:sp>
        <p:nvSpPr>
          <p:cNvPr id="28" name="Shape 21"/>
          <p:cNvSpPr/>
          <p:nvPr/>
        </p:nvSpPr>
        <p:spPr>
          <a:xfrm>
            <a:off x="4549140" y="3378708"/>
            <a:ext cx="502920" cy="502920"/>
          </a:xfrm>
          <a:prstGeom prst="ellipse">
            <a:avLst/>
          </a:prstGeom>
          <a:solidFill>
            <a:srgbClr val="FBEFE1"/>
          </a:solidFill>
          <a:ln/>
        </p:spPr>
      </p:sp>
      <p:pic>
        <p:nvPicPr>
          <p:cNvPr id="29" name="Image 5" descr="/home/claude/cv_smart_cities/icons/cost.png"/>
          <p:cNvPicPr>
            <a:picLocks noChangeAspect="1"/>
          </p:cNvPicPr>
          <p:nvPr/>
        </p:nvPicPr>
        <p:blipFill>
          <a:blip r:embed="rId8"/>
          <a:stretch>
            <a:fillRect/>
          </a:stretch>
        </p:blipFill>
        <p:spPr>
          <a:xfrm>
            <a:off x="4662297" y="3491865"/>
            <a:ext cx="276606" cy="276606"/>
          </a:xfrm>
          <a:prstGeom prst="rect">
            <a:avLst/>
          </a:prstGeom>
        </p:spPr>
      </p:pic>
      <p:sp>
        <p:nvSpPr>
          <p:cNvPr id="30" name="Text 22"/>
          <p:cNvSpPr/>
          <p:nvPr/>
        </p:nvSpPr>
        <p:spPr>
          <a:xfrm>
            <a:off x="5120640" y="333756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High infrastructure cost</a:t>
            </a:r>
            <a:endParaRPr lang="en-US" sz="1150" dirty="0"/>
          </a:p>
        </p:txBody>
      </p:sp>
      <p:sp>
        <p:nvSpPr>
          <p:cNvPr id="31" name="Shape 23"/>
          <p:cNvSpPr/>
          <p:nvPr/>
        </p:nvSpPr>
        <p:spPr>
          <a:xfrm>
            <a:off x="4549140" y="4155948"/>
            <a:ext cx="502920" cy="502920"/>
          </a:xfrm>
          <a:prstGeom prst="ellipse">
            <a:avLst/>
          </a:prstGeom>
          <a:solidFill>
            <a:srgbClr val="FBEFE1"/>
          </a:solidFill>
          <a:ln/>
        </p:spPr>
      </p:sp>
      <p:pic>
        <p:nvPicPr>
          <p:cNvPr id="32" name="Image 6" descr="/home/claude/cv_smart_cities/icons/database.png"/>
          <p:cNvPicPr>
            <a:picLocks noChangeAspect="1"/>
          </p:cNvPicPr>
          <p:nvPr/>
        </p:nvPicPr>
        <p:blipFill>
          <a:blip r:embed="rId9"/>
          <a:stretch>
            <a:fillRect/>
          </a:stretch>
        </p:blipFill>
        <p:spPr>
          <a:xfrm>
            <a:off x="4662297" y="4269105"/>
            <a:ext cx="276606" cy="276606"/>
          </a:xfrm>
          <a:prstGeom prst="rect">
            <a:avLst/>
          </a:prstGeom>
        </p:spPr>
      </p:pic>
      <p:sp>
        <p:nvSpPr>
          <p:cNvPr id="33" name="Text 24"/>
          <p:cNvSpPr/>
          <p:nvPr/>
        </p:nvSpPr>
        <p:spPr>
          <a:xfrm>
            <a:off x="5120640" y="411480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Data security</a:t>
            </a:r>
            <a:endParaRPr lang="en-US" sz="1150" dirty="0"/>
          </a:p>
        </p:txBody>
      </p:sp>
      <p:sp>
        <p:nvSpPr>
          <p:cNvPr id="34" name="Shape 25"/>
          <p:cNvSpPr/>
          <p:nvPr/>
        </p:nvSpPr>
        <p:spPr>
          <a:xfrm>
            <a:off x="4549140" y="4933188"/>
            <a:ext cx="502920" cy="502920"/>
          </a:xfrm>
          <a:prstGeom prst="ellipse">
            <a:avLst/>
          </a:prstGeom>
          <a:solidFill>
            <a:srgbClr val="FBEFE1"/>
          </a:solidFill>
          <a:ln/>
        </p:spPr>
      </p:sp>
      <p:pic>
        <p:nvPicPr>
          <p:cNvPr id="35" name="Image 7" descr="/home/claude/cv_smart_cities/icons/scale.png"/>
          <p:cNvPicPr>
            <a:picLocks noChangeAspect="1"/>
          </p:cNvPicPr>
          <p:nvPr/>
        </p:nvPicPr>
        <p:blipFill>
          <a:blip r:embed="rId10"/>
          <a:stretch>
            <a:fillRect/>
          </a:stretch>
        </p:blipFill>
        <p:spPr>
          <a:xfrm>
            <a:off x="4662297" y="5046345"/>
            <a:ext cx="276606" cy="276606"/>
          </a:xfrm>
          <a:prstGeom prst="rect">
            <a:avLst/>
          </a:prstGeom>
        </p:spPr>
      </p:pic>
      <p:sp>
        <p:nvSpPr>
          <p:cNvPr id="36" name="Text 26"/>
          <p:cNvSpPr/>
          <p:nvPr/>
        </p:nvSpPr>
        <p:spPr>
          <a:xfrm>
            <a:off x="5120640" y="489204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Ethical issues</a:t>
            </a:r>
            <a:endParaRPr lang="en-US" sz="1150" dirty="0"/>
          </a:p>
        </p:txBody>
      </p:sp>
      <p:sp>
        <p:nvSpPr>
          <p:cNvPr id="37" name="Shape 27"/>
          <p:cNvSpPr/>
          <p:nvPr/>
        </p:nvSpPr>
        <p:spPr>
          <a:xfrm>
            <a:off x="8138160" y="1600200"/>
            <a:ext cx="3611880" cy="4297680"/>
          </a:xfrm>
          <a:prstGeom prst="roundRect">
            <a:avLst>
              <a:gd name="adj" fmla="val 2532"/>
            </a:avLst>
          </a:prstGeom>
          <a:solidFill>
            <a:srgbClr val="FFFFFF"/>
          </a:solidFill>
          <a:ln w="12700">
            <a:solidFill>
              <a:srgbClr val="E3E9EF"/>
            </a:solidFill>
            <a:prstDash val="solid"/>
          </a:ln>
          <a:effectLst>
            <a:outerShdw blurRad="63500" dist="25400" dir="5400000" algn="bl" rotWithShape="0">
              <a:srgbClr val="1F3B5A">
                <a:alpha val="10000"/>
              </a:srgbClr>
            </a:outerShdw>
          </a:effectLst>
        </p:spPr>
      </p:sp>
      <p:sp>
        <p:nvSpPr>
          <p:cNvPr id="38" name="Shape 28"/>
          <p:cNvSpPr/>
          <p:nvPr/>
        </p:nvSpPr>
        <p:spPr>
          <a:xfrm>
            <a:off x="8138160" y="1600200"/>
            <a:ext cx="3611880" cy="685800"/>
          </a:xfrm>
          <a:prstGeom prst="roundRect">
            <a:avLst>
              <a:gd name="adj" fmla="val 13333"/>
            </a:avLst>
          </a:prstGeom>
          <a:solidFill>
            <a:srgbClr val="2E86C1"/>
          </a:solidFill>
          <a:ln/>
        </p:spPr>
      </p:sp>
      <p:sp>
        <p:nvSpPr>
          <p:cNvPr id="39" name="Shape 29"/>
          <p:cNvSpPr/>
          <p:nvPr/>
        </p:nvSpPr>
        <p:spPr>
          <a:xfrm>
            <a:off x="8138160" y="1965960"/>
            <a:ext cx="3611880" cy="320040"/>
          </a:xfrm>
          <a:prstGeom prst="rect">
            <a:avLst/>
          </a:prstGeom>
          <a:solidFill>
            <a:srgbClr val="2E86C1"/>
          </a:solidFill>
          <a:ln/>
        </p:spPr>
      </p:sp>
      <p:sp>
        <p:nvSpPr>
          <p:cNvPr id="40" name="Text 30"/>
          <p:cNvSpPr/>
          <p:nvPr/>
        </p:nvSpPr>
        <p:spPr>
          <a:xfrm>
            <a:off x="8138160" y="1600200"/>
            <a:ext cx="3611880" cy="68580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Future Scope</a:t>
            </a:r>
            <a:endParaRPr lang="en-US" sz="1700" dirty="0"/>
          </a:p>
        </p:txBody>
      </p:sp>
      <p:sp>
        <p:nvSpPr>
          <p:cNvPr id="41" name="Shape 31"/>
          <p:cNvSpPr/>
          <p:nvPr/>
        </p:nvSpPr>
        <p:spPr>
          <a:xfrm>
            <a:off x="8343900" y="2601468"/>
            <a:ext cx="502920" cy="502920"/>
          </a:xfrm>
          <a:prstGeom prst="ellipse">
            <a:avLst/>
          </a:prstGeom>
          <a:solidFill>
            <a:srgbClr val="E7F0FA"/>
          </a:solidFill>
          <a:ln/>
        </p:spPr>
      </p:sp>
      <p:pic>
        <p:nvPicPr>
          <p:cNvPr id="42" name="Image 8" descr="/home/claude/cv_smart_cities/icons/autonomous.png"/>
          <p:cNvPicPr>
            <a:picLocks noChangeAspect="1"/>
          </p:cNvPicPr>
          <p:nvPr/>
        </p:nvPicPr>
        <p:blipFill>
          <a:blip r:embed="rId11"/>
          <a:stretch>
            <a:fillRect/>
          </a:stretch>
        </p:blipFill>
        <p:spPr>
          <a:xfrm>
            <a:off x="8457057" y="2714625"/>
            <a:ext cx="276606" cy="276606"/>
          </a:xfrm>
          <a:prstGeom prst="rect">
            <a:avLst/>
          </a:prstGeom>
        </p:spPr>
      </p:pic>
      <p:sp>
        <p:nvSpPr>
          <p:cNvPr id="43" name="Text 32"/>
          <p:cNvSpPr/>
          <p:nvPr/>
        </p:nvSpPr>
        <p:spPr>
          <a:xfrm>
            <a:off x="8915400" y="256032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Autonomous cities</a:t>
            </a:r>
            <a:endParaRPr lang="en-US" sz="1150" dirty="0"/>
          </a:p>
        </p:txBody>
      </p:sp>
      <p:sp>
        <p:nvSpPr>
          <p:cNvPr id="44" name="Shape 33"/>
          <p:cNvSpPr/>
          <p:nvPr/>
        </p:nvSpPr>
        <p:spPr>
          <a:xfrm>
            <a:off x="8343900" y="3378708"/>
            <a:ext cx="502920" cy="502920"/>
          </a:xfrm>
          <a:prstGeom prst="ellipse">
            <a:avLst/>
          </a:prstGeom>
          <a:solidFill>
            <a:srgbClr val="E7F0FA"/>
          </a:solidFill>
          <a:ln/>
        </p:spPr>
      </p:sp>
      <p:pic>
        <p:nvPicPr>
          <p:cNvPr id="45" name="Image 9" descr="/home/claude/cv_smart_cities/icons/drone.png"/>
          <p:cNvPicPr>
            <a:picLocks noChangeAspect="1"/>
          </p:cNvPicPr>
          <p:nvPr/>
        </p:nvPicPr>
        <p:blipFill>
          <a:blip r:embed="rId12"/>
          <a:stretch>
            <a:fillRect/>
          </a:stretch>
        </p:blipFill>
        <p:spPr>
          <a:xfrm>
            <a:off x="8457057" y="3491865"/>
            <a:ext cx="276606" cy="276606"/>
          </a:xfrm>
          <a:prstGeom prst="rect">
            <a:avLst/>
          </a:prstGeom>
        </p:spPr>
      </p:pic>
      <p:sp>
        <p:nvSpPr>
          <p:cNvPr id="46" name="Text 34"/>
          <p:cNvSpPr/>
          <p:nvPr/>
        </p:nvSpPr>
        <p:spPr>
          <a:xfrm>
            <a:off x="8915400" y="333756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AI-powered drones</a:t>
            </a:r>
            <a:endParaRPr lang="en-US" sz="1150" dirty="0"/>
          </a:p>
        </p:txBody>
      </p:sp>
      <p:sp>
        <p:nvSpPr>
          <p:cNvPr id="47" name="Shape 35"/>
          <p:cNvSpPr/>
          <p:nvPr/>
        </p:nvSpPr>
        <p:spPr>
          <a:xfrm>
            <a:off x="8343900" y="4155948"/>
            <a:ext cx="502920" cy="502920"/>
          </a:xfrm>
          <a:prstGeom prst="ellipse">
            <a:avLst/>
          </a:prstGeom>
          <a:solidFill>
            <a:srgbClr val="E7F0FA"/>
          </a:solidFill>
          <a:ln/>
        </p:spPr>
      </p:sp>
      <p:pic>
        <p:nvPicPr>
          <p:cNvPr id="48" name="Image 10" descr="/home/claude/cv_smart_cities/icons/edgeai.png"/>
          <p:cNvPicPr>
            <a:picLocks noChangeAspect="1"/>
          </p:cNvPicPr>
          <p:nvPr/>
        </p:nvPicPr>
        <p:blipFill>
          <a:blip r:embed="rId13"/>
          <a:stretch>
            <a:fillRect/>
          </a:stretch>
        </p:blipFill>
        <p:spPr>
          <a:xfrm>
            <a:off x="8457057" y="4269105"/>
            <a:ext cx="276606" cy="276606"/>
          </a:xfrm>
          <a:prstGeom prst="rect">
            <a:avLst/>
          </a:prstGeom>
        </p:spPr>
      </p:pic>
      <p:sp>
        <p:nvSpPr>
          <p:cNvPr id="49" name="Text 36"/>
          <p:cNvSpPr/>
          <p:nvPr/>
        </p:nvSpPr>
        <p:spPr>
          <a:xfrm>
            <a:off x="8915400" y="411480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Edge AI</a:t>
            </a:r>
            <a:endParaRPr lang="en-US" sz="1150" dirty="0"/>
          </a:p>
        </p:txBody>
      </p:sp>
      <p:sp>
        <p:nvSpPr>
          <p:cNvPr id="50" name="Shape 37"/>
          <p:cNvSpPr/>
          <p:nvPr/>
        </p:nvSpPr>
        <p:spPr>
          <a:xfrm>
            <a:off x="8343900" y="4933188"/>
            <a:ext cx="502920" cy="502920"/>
          </a:xfrm>
          <a:prstGeom prst="ellipse">
            <a:avLst/>
          </a:prstGeom>
          <a:solidFill>
            <a:srgbClr val="E7F0FA"/>
          </a:solidFill>
          <a:ln/>
        </p:spPr>
      </p:sp>
      <p:pic>
        <p:nvPicPr>
          <p:cNvPr id="51" name="Image 11" descr="/home/claude/cv_smart_cities/icons/fiveg.png"/>
          <p:cNvPicPr>
            <a:picLocks noChangeAspect="1"/>
          </p:cNvPicPr>
          <p:nvPr/>
        </p:nvPicPr>
        <p:blipFill>
          <a:blip r:embed="rId14"/>
          <a:stretch>
            <a:fillRect/>
          </a:stretch>
        </p:blipFill>
        <p:spPr>
          <a:xfrm>
            <a:off x="8457057" y="5046345"/>
            <a:ext cx="276606" cy="276606"/>
          </a:xfrm>
          <a:prstGeom prst="rect">
            <a:avLst/>
          </a:prstGeom>
        </p:spPr>
      </p:pic>
      <p:sp>
        <p:nvSpPr>
          <p:cNvPr id="52" name="Text 38"/>
          <p:cNvSpPr/>
          <p:nvPr/>
        </p:nvSpPr>
        <p:spPr>
          <a:xfrm>
            <a:off x="8915400" y="4892040"/>
            <a:ext cx="2651760" cy="566928"/>
          </a:xfrm>
          <a:prstGeom prst="rect">
            <a:avLst/>
          </a:prstGeom>
          <a:noFill/>
          <a:ln/>
        </p:spPr>
        <p:txBody>
          <a:bodyPr wrap="square" rtlCol="0" anchor="ctr"/>
          <a:lstStyle/>
          <a:p>
            <a:pPr marL="0" indent="0">
              <a:buNone/>
            </a:pPr>
            <a:r>
              <a:rPr lang="en-US" sz="1150" dirty="0">
                <a:solidFill>
                  <a:srgbClr val="2C3539"/>
                </a:solidFill>
                <a:latin typeface="Calibri" pitchFamily="34" charset="0"/>
                <a:ea typeface="Calibri" pitchFamily="34" charset="-122"/>
                <a:cs typeface="Calibri" pitchFamily="34" charset="-120"/>
              </a:rPr>
              <a:t>5G-enabled CV &amp; Digital Twins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13294B"/>
        </a:solidFill>
        <a:effectLst/>
      </p:bgPr>
    </p:bg>
    <p:spTree>
      <p:nvGrpSpPr>
        <p:cNvPr id="1" name=""/>
        <p:cNvGrpSpPr/>
        <p:nvPr/>
      </p:nvGrpSpPr>
      <p:grpSpPr>
        <a:xfrm>
          <a:off x="0" y="0"/>
          <a:ext cx="0" cy="0"/>
          <a:chOff x="0" y="0"/>
          <a:chExt cx="0" cy="0"/>
        </a:xfrm>
      </p:grpSpPr>
      <p:sp>
        <p:nvSpPr>
          <p:cNvPr id="4" name="Text 1"/>
          <p:cNvSpPr/>
          <p:nvPr/>
        </p:nvSpPr>
        <p:spPr>
          <a:xfrm>
            <a:off x="0" y="2841056"/>
            <a:ext cx="12188952" cy="82296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1281</Words>
  <Application>Microsoft Office PowerPoint</Application>
  <PresentationFormat>Widescreen</PresentationFormat>
  <Paragraphs>129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Kaviya V</cp:lastModifiedBy>
  <cp:revision>3</cp:revision>
  <dcterms:created xsi:type="dcterms:W3CDTF">2026-07-26T13:33:19Z</dcterms:created>
  <dcterms:modified xsi:type="dcterms:W3CDTF">2026-07-29T04:48:58Z</dcterms:modified>
</cp:coreProperties>
</file>